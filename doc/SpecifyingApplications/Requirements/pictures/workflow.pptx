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57A99-9AFF-EECF-A540-03EA2949D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E2CE8E-8DD2-A2F3-F462-AB60F1332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3B002-27D4-35A6-A2B8-2BD619A0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B1452-BDB6-511E-DBED-F5A896FD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19AD77-CA63-5C10-8AC0-B5DFF67E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7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FED51-3A24-EDBB-6132-C9BC0A75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9516F4-8EC6-F684-F957-DA22E7AD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77C7B7-8D05-FB29-12FA-E0FD09D8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2DFD81-0B6E-7DD0-AC98-63ADDDE1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BB9FF8-279F-CAD8-CE31-D70CE3EC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39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DC69D-BAE2-DB07-2C2A-601E5E31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4F29E0-D5D2-51D5-9420-E2BAE1BA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B6FBC9-08F8-FDD1-A456-C1B7FD5D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54D26F-7842-517D-795E-04E8B2215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0C126C-9C54-04BC-F142-7167C83B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11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16C25-0314-4489-533A-C58895C6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676A9A-458F-D307-C819-1B52034DE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5CC0F3-B4D0-8119-105E-6355CB7D2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8A95B3-477C-2D5C-C6B6-FB32F0AF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94350D-0A6C-1612-16FA-B16AF35B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D2801B-2356-7220-E388-9A05D6E8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95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23F89-F443-015E-3BA5-1CEAD65F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B0FE1F-573D-FE11-6FA0-655C1E0D6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19945-8753-979B-8378-551B41BCD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05DBA6-183D-6FB1-1667-47F561710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B43912-9E50-A085-5136-E61A131C0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4DD8F8B-6FB9-FBEA-8746-5894422E6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4C04AF-E22F-B74E-12EB-DFF996ED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21F708B-E532-3CB4-2E9F-243916FE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00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97C48-7A9C-D93E-CC41-7F3B9035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57C827-138C-7FD5-AF25-CD7DB0DC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FD0C3B-0029-1D1E-C816-D801C28A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1D4618-59E5-274E-BAFA-38567259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15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FCCC7E-20A2-9FC3-69B8-C5B8C102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E30F92-71C5-1450-C6F1-9840218E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668964-41B8-715B-BA63-CE50A30C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68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DF54A-9776-3336-56C0-C1EEBAEE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833162-23D5-80FB-D922-18B8E7A95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B9C545-242F-E81A-4F8B-46C39AC1B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54F37F-F604-9E34-314F-DB5B4760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62FBF0-834B-EC00-F615-90D9630E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F20851-24EE-F01C-F93C-6D0CA335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728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AB5ED-63E1-EE03-3E6D-DDEF29FF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BD7556-6413-1E0F-2848-CFF1D2525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09212F-EF48-3584-4C55-5D15B430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52F0A4-765F-0E3B-5EE0-3B27401C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67F2A1-0A73-AB2F-237E-E2B2BE322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ABB943-1823-FF9F-716B-FD110B63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8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ED9E3-C5CB-8CB7-05C8-7682062D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BC8CA2-6317-F42B-F6D5-F8FA597F7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843C19-BBDE-2FCD-B779-8474535F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1ADDE4-4A52-701B-F956-44697BB4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4C54FE-31B5-4BA8-7BC2-3A2C5B16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612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2EF902-FAA6-54A2-6EBD-0A670E6D7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610D59A-144E-F4D4-3255-741B8DE87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D63E04-765D-6495-AACA-1F54987C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534CC-5AAA-1550-5B92-DCD44320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A9BA25-122B-DD42-A99F-61BE3508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41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BC30992-3422-1C0B-9848-CBCBA2F5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6EC80C-DACF-A9CB-BE8A-6556372A1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AB9A1F-ADAF-5157-32DA-F15EB43F7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BD049-28C9-4991-A187-CBD27043F3C5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243D1-BE6F-D32B-A4A2-CE7E775BE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7214FF-82B9-582A-2922-8AC1A4C1F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6C97A-FE5A-4405-88EB-8AB78A1040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01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FE37-F09C-0EE6-C633-50CBAEEE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iagramm, Plan, technische Zeichnung, Text enthält.&#10;&#10;KI-generierte Inhalte können fehlerhaft sein.">
            <a:extLst>
              <a:ext uri="{FF2B5EF4-FFF2-40B4-BE49-F238E27FC236}">
                <a16:creationId xmlns:a16="http://schemas.microsoft.com/office/drawing/2014/main" id="{6886DF89-9409-13A5-9B79-6A4B7F14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55" y="528801"/>
            <a:ext cx="6135217" cy="4837019"/>
          </a:xfrm>
          <a:prstGeom prst="rect">
            <a:avLst/>
          </a:prstGeom>
        </p:spPr>
      </p:pic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C51F5AD-FA27-94FC-402E-E85F7668C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265" y="1415845"/>
            <a:ext cx="4047735" cy="285120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67CCBEE-3E32-FC26-74D0-5A3D26C48A99}"/>
              </a:ext>
            </a:extLst>
          </p:cNvPr>
          <p:cNvSpPr txBox="1"/>
          <p:nvPr/>
        </p:nvSpPr>
        <p:spPr>
          <a:xfrm>
            <a:off x="1536139" y="262442"/>
            <a:ext cx="505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accent4">
                    <a:lumMod val="75000"/>
                  </a:schemeClr>
                </a:solidFill>
              </a:rPr>
              <a:t>Sven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CEE0DE-42DB-47C5-BB4D-59D9F8DEFB4D}"/>
              </a:ext>
            </a:extLst>
          </p:cNvPr>
          <p:cNvSpPr txBox="1"/>
          <p:nvPr/>
        </p:nvSpPr>
        <p:spPr>
          <a:xfrm>
            <a:off x="1354455" y="2816505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>
                <a:solidFill>
                  <a:schemeClr val="accent4">
                    <a:lumMod val="75000"/>
                  </a:schemeClr>
                </a:solidFill>
              </a:rPr>
              <a:t>Mentopolis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977B6F-8EE2-2236-AFC8-565880E6099C}"/>
              </a:ext>
            </a:extLst>
          </p:cNvPr>
          <p:cNvSpPr txBox="1"/>
          <p:nvPr/>
        </p:nvSpPr>
        <p:spPr>
          <a:xfrm>
            <a:off x="124534" y="0"/>
            <a:ext cx="1153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accent4">
                    <a:lumMod val="75000"/>
                  </a:schemeClr>
                </a:solidFill>
              </a:rPr>
              <a:t>Bsp: APT Proxy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7DA699A-507C-C409-A88D-9076A2FE653B}"/>
              </a:ext>
            </a:extLst>
          </p:cNvPr>
          <p:cNvSpPr txBox="1"/>
          <p:nvPr/>
        </p:nvSpPr>
        <p:spPr>
          <a:xfrm>
            <a:off x="1305303" y="5104209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>
                <a:solidFill>
                  <a:schemeClr val="accent4">
                    <a:lumMod val="75000"/>
                  </a:schemeClr>
                </a:solidFill>
              </a:rPr>
              <a:t>Mentopolis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47E163-867D-8D3F-85D6-815957955F7A}"/>
              </a:ext>
            </a:extLst>
          </p:cNvPr>
          <p:cNvSpPr txBox="1"/>
          <p:nvPr/>
        </p:nvSpPr>
        <p:spPr>
          <a:xfrm>
            <a:off x="5261078" y="291348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accent4">
                    <a:lumMod val="75000"/>
                  </a:schemeClr>
                </a:solidFill>
              </a:rPr>
              <a:t>Ana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C8EDBD9-1A1E-FB22-4F48-4D1B76B7F969}"/>
              </a:ext>
            </a:extLst>
          </p:cNvPr>
          <p:cNvSpPr txBox="1"/>
          <p:nvPr/>
        </p:nvSpPr>
        <p:spPr>
          <a:xfrm>
            <a:off x="5261078" y="5365819"/>
            <a:ext cx="1044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accent4">
                    <a:lumMod val="75000"/>
                  </a:schemeClr>
                </a:solidFill>
              </a:rPr>
              <a:t>Implementer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2CB795B-5400-0BEF-5A99-0D4F6CBA3708}"/>
              </a:ext>
            </a:extLst>
          </p:cNvPr>
          <p:cNvSpPr txBox="1"/>
          <p:nvPr/>
        </p:nvSpPr>
        <p:spPr>
          <a:xfrm>
            <a:off x="4959141" y="1911855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accent4">
                    <a:lumMod val="75000"/>
                  </a:schemeClr>
                </a:solidFill>
              </a:rPr>
              <a:t>Ana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30C9066-B2CA-4F54-ABA8-BA02DBFA2B95}"/>
              </a:ext>
            </a:extLst>
          </p:cNvPr>
          <p:cNvSpPr txBox="1"/>
          <p:nvPr/>
        </p:nvSpPr>
        <p:spPr>
          <a:xfrm>
            <a:off x="5562058" y="3730023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accent4">
                    <a:lumMod val="75000"/>
                  </a:schemeClr>
                </a:solidFill>
              </a:rP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306099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Bogen 110">
            <a:extLst>
              <a:ext uri="{FF2B5EF4-FFF2-40B4-BE49-F238E27FC236}">
                <a16:creationId xmlns:a16="http://schemas.microsoft.com/office/drawing/2014/main" id="{5B3DB047-D7E4-BB2D-C075-26FEBC3DF0E7}"/>
              </a:ext>
            </a:extLst>
          </p:cNvPr>
          <p:cNvSpPr/>
          <p:nvPr/>
        </p:nvSpPr>
        <p:spPr>
          <a:xfrm rot="20373454">
            <a:off x="8298890" y="2534925"/>
            <a:ext cx="1018201" cy="850229"/>
          </a:xfrm>
          <a:prstGeom prst="arc">
            <a:avLst>
              <a:gd name="adj1" fmla="val 4794653"/>
              <a:gd name="adj2" fmla="val 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Rechteck: abgerundete Ecken 121">
            <a:extLst>
              <a:ext uri="{FF2B5EF4-FFF2-40B4-BE49-F238E27FC236}">
                <a16:creationId xmlns:a16="http://schemas.microsoft.com/office/drawing/2014/main" id="{FF2225BB-EC9A-59FF-EB16-A7A9203FE116}"/>
              </a:ext>
            </a:extLst>
          </p:cNvPr>
          <p:cNvSpPr/>
          <p:nvPr/>
        </p:nvSpPr>
        <p:spPr>
          <a:xfrm>
            <a:off x="8886150" y="5467224"/>
            <a:ext cx="1585689" cy="437209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9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4B0E9E4A-DB4D-E4C7-A99F-45F33E5D8C1A}"/>
              </a:ext>
            </a:extLst>
          </p:cNvPr>
          <p:cNvSpPr/>
          <p:nvPr/>
        </p:nvSpPr>
        <p:spPr>
          <a:xfrm>
            <a:off x="6662330" y="5478530"/>
            <a:ext cx="1608215" cy="55649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3897DCDD-8DA9-4D3A-4105-97347336794A}"/>
              </a:ext>
            </a:extLst>
          </p:cNvPr>
          <p:cNvCxnSpPr>
            <a:cxnSpLocks/>
          </p:cNvCxnSpPr>
          <p:nvPr/>
        </p:nvCxnSpPr>
        <p:spPr>
          <a:xfrm>
            <a:off x="2215480" y="1130097"/>
            <a:ext cx="3253384" cy="13531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B88D2F2A-E7B5-4855-4192-568A5BAEC02F}"/>
              </a:ext>
            </a:extLst>
          </p:cNvPr>
          <p:cNvSpPr/>
          <p:nvPr/>
        </p:nvSpPr>
        <p:spPr>
          <a:xfrm>
            <a:off x="100117" y="674119"/>
            <a:ext cx="4311696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Bogen 38">
            <a:extLst>
              <a:ext uri="{FF2B5EF4-FFF2-40B4-BE49-F238E27FC236}">
                <a16:creationId xmlns:a16="http://schemas.microsoft.com/office/drawing/2014/main" id="{8A92B5C7-798B-9C42-64F0-6337B3F020FA}"/>
              </a:ext>
            </a:extLst>
          </p:cNvPr>
          <p:cNvSpPr/>
          <p:nvPr/>
        </p:nvSpPr>
        <p:spPr>
          <a:xfrm rot="10421487">
            <a:off x="1088240" y="2187092"/>
            <a:ext cx="1830084" cy="1729260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Bogen 20">
            <a:extLst>
              <a:ext uri="{FF2B5EF4-FFF2-40B4-BE49-F238E27FC236}">
                <a16:creationId xmlns:a16="http://schemas.microsoft.com/office/drawing/2014/main" id="{14A08A5A-27D8-2635-A34B-520DDC95543A}"/>
              </a:ext>
            </a:extLst>
          </p:cNvPr>
          <p:cNvSpPr/>
          <p:nvPr/>
        </p:nvSpPr>
        <p:spPr>
          <a:xfrm>
            <a:off x="1101285" y="1743546"/>
            <a:ext cx="1830084" cy="1266632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247E7EE-EAF9-B2BD-C15C-AB95314AF109}"/>
              </a:ext>
            </a:extLst>
          </p:cNvPr>
          <p:cNvSpPr txBox="1"/>
          <p:nvPr/>
        </p:nvSpPr>
        <p:spPr>
          <a:xfrm>
            <a:off x="340397" y="186885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Workflow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8864597-992E-C362-D000-2CB441BBFD3B}"/>
              </a:ext>
            </a:extLst>
          </p:cNvPr>
          <p:cNvGrpSpPr/>
          <p:nvPr/>
        </p:nvGrpSpPr>
        <p:grpSpPr>
          <a:xfrm>
            <a:off x="1198017" y="1060178"/>
            <a:ext cx="1151277" cy="838025"/>
            <a:chOff x="387764" y="1060116"/>
            <a:chExt cx="1151277" cy="838025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80942F3-DD5D-88D8-B3B4-20ADD5D51884}"/>
                </a:ext>
              </a:extLst>
            </p:cNvPr>
            <p:cNvSpPr/>
            <p:nvPr/>
          </p:nvSpPr>
          <p:spPr>
            <a:xfrm>
              <a:off x="453487" y="1060116"/>
              <a:ext cx="1019831" cy="83802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 descr="Person Krone männlich mit einfarbiger Füllung">
              <a:extLst>
                <a:ext uri="{FF2B5EF4-FFF2-40B4-BE49-F238E27FC236}">
                  <a16:creationId xmlns:a16="http://schemas.microsoft.com/office/drawing/2014/main" id="{A6101758-F10E-99B1-8305-05BCCCE77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734" y="1142999"/>
              <a:ext cx="415339" cy="415339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3DD893BB-486A-9852-253B-EE2694882422}"/>
                </a:ext>
              </a:extLst>
            </p:cNvPr>
            <p:cNvSpPr txBox="1"/>
            <p:nvPr/>
          </p:nvSpPr>
          <p:spPr>
            <a:xfrm>
              <a:off x="387764" y="1479126"/>
              <a:ext cx="1151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[ConsumerTeam]</a:t>
              </a:r>
            </a:p>
            <a:p>
              <a:r>
                <a:rPr lang="de-DE" sz="1000"/>
                <a:t>Product Owner</a:t>
              </a:r>
            </a:p>
          </p:txBody>
        </p:sp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1CE185AF-8721-CD0B-39FE-659C196F5F8E}"/>
              </a:ext>
            </a:extLst>
          </p:cNvPr>
          <p:cNvSpPr txBox="1"/>
          <p:nvPr/>
        </p:nvSpPr>
        <p:spPr>
          <a:xfrm>
            <a:off x="2283571" y="1156024"/>
            <a:ext cx="1715534" cy="646331"/>
          </a:xfrm>
          <a:prstGeom prst="rect">
            <a:avLst/>
          </a:prstGeom>
          <a:solidFill>
            <a:srgbClr val="FFFFE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900"/>
              <a:t>Provides as input: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Business goals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Use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Unstructured requirements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23734F7-5910-0F2C-123C-7437C306622C}"/>
              </a:ext>
            </a:extLst>
          </p:cNvPr>
          <p:cNvGrpSpPr/>
          <p:nvPr/>
        </p:nvGrpSpPr>
        <p:grpSpPr>
          <a:xfrm>
            <a:off x="170902" y="2357883"/>
            <a:ext cx="1027115" cy="1000529"/>
            <a:chOff x="467041" y="2358392"/>
            <a:chExt cx="1027115" cy="1000529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4080032B-3CC5-553D-CE57-8A2E08914A28}"/>
                </a:ext>
              </a:extLst>
            </p:cNvPr>
            <p:cNvSpPr/>
            <p:nvPr/>
          </p:nvSpPr>
          <p:spPr>
            <a:xfrm>
              <a:off x="474325" y="2358392"/>
              <a:ext cx="1019831" cy="100052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4CF00FC-0361-846A-49AF-6FF47EE3BFA1}"/>
                </a:ext>
              </a:extLst>
            </p:cNvPr>
            <p:cNvSpPr txBox="1"/>
            <p:nvPr/>
          </p:nvSpPr>
          <p:spPr>
            <a:xfrm>
              <a:off x="467041" y="2737950"/>
              <a:ext cx="10198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[ProviderTeam]</a:t>
              </a:r>
            </a:p>
            <a:p>
              <a:r>
                <a:rPr lang="de-DE" sz="1000"/>
                <a:t>Product Owner</a:t>
              </a:r>
            </a:p>
          </p:txBody>
        </p:sp>
        <p:pic>
          <p:nvPicPr>
            <p:cNvPr id="24" name="Grafik 23" descr="Person Krone männlich Silhouette">
              <a:extLst>
                <a:ext uri="{FF2B5EF4-FFF2-40B4-BE49-F238E27FC236}">
                  <a16:creationId xmlns:a16="http://schemas.microsoft.com/office/drawing/2014/main" id="{7D8166D6-4741-18F1-D5AE-C0861FCCE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842" y="2402040"/>
              <a:ext cx="388231" cy="388231"/>
            </a:xfrm>
            <a:prstGeom prst="rect">
              <a:avLst/>
            </a:prstGeom>
          </p:spPr>
        </p:pic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96E11BBF-8FF4-0AC5-F93A-06462AA80CDA}"/>
              </a:ext>
            </a:extLst>
          </p:cNvPr>
          <p:cNvSpPr txBox="1"/>
          <p:nvPr/>
        </p:nvSpPr>
        <p:spPr>
          <a:xfrm>
            <a:off x="1256906" y="2315230"/>
            <a:ext cx="1397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Gather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Structure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Prioritize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Define requirement acceptance criteria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B64D4DC-1CD2-D8B6-F3D7-2DA2AF98EDB6}"/>
              </a:ext>
            </a:extLst>
          </p:cNvPr>
          <p:cNvSpPr/>
          <p:nvPr/>
        </p:nvSpPr>
        <p:spPr>
          <a:xfrm>
            <a:off x="2845961" y="2440865"/>
            <a:ext cx="327048" cy="2971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364F6DF-24DA-E222-0D7E-A674A4FCD05C}"/>
              </a:ext>
            </a:extLst>
          </p:cNvPr>
          <p:cNvSpPr/>
          <p:nvPr/>
        </p:nvSpPr>
        <p:spPr>
          <a:xfrm>
            <a:off x="2931369" y="2534908"/>
            <a:ext cx="327048" cy="2971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C3761CC-588B-C793-AB9B-D6A4AA01663E}"/>
              </a:ext>
            </a:extLst>
          </p:cNvPr>
          <p:cNvSpPr/>
          <p:nvPr/>
        </p:nvSpPr>
        <p:spPr>
          <a:xfrm>
            <a:off x="2747769" y="2626073"/>
            <a:ext cx="327048" cy="2971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BDC39E3-97D4-A97F-A879-6656588816B5}"/>
              </a:ext>
            </a:extLst>
          </p:cNvPr>
          <p:cNvSpPr txBox="1"/>
          <p:nvPr/>
        </p:nvSpPr>
        <p:spPr>
          <a:xfrm>
            <a:off x="3245480" y="2461076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>
                <a:solidFill>
                  <a:schemeClr val="accent5">
                    <a:lumMod val="50000"/>
                  </a:schemeClr>
                </a:solidFill>
              </a:rPr>
              <a:t>structured</a:t>
            </a:r>
          </a:p>
          <a:p>
            <a:r>
              <a:rPr lang="de-DE" sz="800">
                <a:solidFill>
                  <a:schemeClr val="accent5">
                    <a:lumMod val="50000"/>
                  </a:schemeClr>
                </a:solidFill>
              </a:rPr>
              <a:t>requirements,</a:t>
            </a:r>
          </a:p>
          <a:p>
            <a:r>
              <a:rPr lang="de-DE" sz="800">
                <a:solidFill>
                  <a:schemeClr val="accent5">
                    <a:lumMod val="50000"/>
                  </a:schemeClr>
                </a:solidFill>
              </a:rPr>
              <a:t>Bundle into releases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6CABF7BD-322A-46D8-D188-DE1BEBCEED96}"/>
              </a:ext>
            </a:extLst>
          </p:cNvPr>
          <p:cNvGrpSpPr/>
          <p:nvPr/>
        </p:nvGrpSpPr>
        <p:grpSpPr>
          <a:xfrm>
            <a:off x="1171074" y="3847825"/>
            <a:ext cx="964547" cy="772408"/>
            <a:chOff x="453487" y="1060116"/>
            <a:chExt cx="1019831" cy="809326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3D9A9FA3-DB6B-EE8C-2A69-8D5DA4F8B8AD}"/>
                </a:ext>
              </a:extLst>
            </p:cNvPr>
            <p:cNvSpPr/>
            <p:nvPr/>
          </p:nvSpPr>
          <p:spPr>
            <a:xfrm>
              <a:off x="453487" y="1060116"/>
              <a:ext cx="1019831" cy="80932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7376EE2-A313-9F41-E911-DA10D1710303}"/>
                </a:ext>
              </a:extLst>
            </p:cNvPr>
            <p:cNvSpPr txBox="1"/>
            <p:nvPr/>
          </p:nvSpPr>
          <p:spPr>
            <a:xfrm>
              <a:off x="602098" y="1450072"/>
              <a:ext cx="6896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Architect</a:t>
              </a:r>
            </a:p>
          </p:txBody>
        </p:sp>
      </p:grpSp>
      <p:pic>
        <p:nvPicPr>
          <p:cNvPr id="37" name="Grafik 36" descr="Benutzer mit einfarbiger Füllung">
            <a:extLst>
              <a:ext uri="{FF2B5EF4-FFF2-40B4-BE49-F238E27FC236}">
                <a16:creationId xmlns:a16="http://schemas.microsoft.com/office/drawing/2014/main" id="{0C804BDC-FAFD-59ED-1E5C-6F1CDCFADC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3731" y="3863998"/>
            <a:ext cx="395323" cy="395323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22BBC5F8-6F5C-7A94-50E6-FAC902BD499E}"/>
              </a:ext>
            </a:extLst>
          </p:cNvPr>
          <p:cNvSpPr txBox="1"/>
          <p:nvPr/>
        </p:nvSpPr>
        <p:spPr>
          <a:xfrm>
            <a:off x="2135619" y="3947151"/>
            <a:ext cx="1810111" cy="507831"/>
          </a:xfrm>
          <a:prstGeom prst="rect">
            <a:avLst/>
          </a:prstGeom>
          <a:solidFill>
            <a:srgbClr val="FFFFE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900"/>
              <a:t>Can provide: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Technical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Non-functional requirements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6588D884-63D3-2482-F123-9C38B03B5398}"/>
              </a:ext>
            </a:extLst>
          </p:cNvPr>
          <p:cNvGrpSpPr/>
          <p:nvPr/>
        </p:nvGrpSpPr>
        <p:grpSpPr>
          <a:xfrm>
            <a:off x="7109436" y="2386083"/>
            <a:ext cx="689612" cy="775068"/>
            <a:chOff x="8445899" y="1288213"/>
            <a:chExt cx="689612" cy="775068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64AC9B03-B8E5-4A88-2DBA-08E564CAED5C}"/>
                </a:ext>
              </a:extLst>
            </p:cNvPr>
            <p:cNvSpPr/>
            <p:nvPr/>
          </p:nvSpPr>
          <p:spPr>
            <a:xfrm>
              <a:off x="8445899" y="1288213"/>
              <a:ext cx="648779" cy="775067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 descr="Benutzer Silhouette">
              <a:extLst>
                <a:ext uri="{FF2B5EF4-FFF2-40B4-BE49-F238E27FC236}">
                  <a16:creationId xmlns:a16="http://schemas.microsoft.com/office/drawing/2014/main" id="{4C71E8FF-4BEC-6A4E-BA63-E25532175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30701" y="1288214"/>
              <a:ext cx="425429" cy="425429"/>
            </a:xfrm>
            <a:prstGeom prst="rect">
              <a:avLst/>
            </a:prstGeom>
          </p:spPr>
        </p:pic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B0546F4F-D0E9-85BB-272F-99B65874DCE4}"/>
                </a:ext>
              </a:extLst>
            </p:cNvPr>
            <p:cNvSpPr txBox="1"/>
            <p:nvPr/>
          </p:nvSpPr>
          <p:spPr>
            <a:xfrm>
              <a:off x="8445899" y="1663171"/>
              <a:ext cx="6896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Analyst/</a:t>
              </a:r>
            </a:p>
            <a:p>
              <a:r>
                <a:rPr lang="de-DE" sz="1000"/>
                <a:t>Architect</a:t>
              </a:r>
            </a:p>
          </p:txBody>
        </p:sp>
      </p:grpSp>
      <p:sp>
        <p:nvSpPr>
          <p:cNvPr id="44" name="Ellipse 43">
            <a:extLst>
              <a:ext uri="{FF2B5EF4-FFF2-40B4-BE49-F238E27FC236}">
                <a16:creationId xmlns:a16="http://schemas.microsoft.com/office/drawing/2014/main" id="{92A8BB39-4007-B5DD-464F-BC3F04FF2275}"/>
              </a:ext>
            </a:extLst>
          </p:cNvPr>
          <p:cNvSpPr/>
          <p:nvPr/>
        </p:nvSpPr>
        <p:spPr>
          <a:xfrm>
            <a:off x="153512" y="703930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60243B5-9782-85F7-390D-EE8AEEDC9F38}"/>
              </a:ext>
            </a:extLst>
          </p:cNvPr>
          <p:cNvSpPr txBox="1"/>
          <p:nvPr/>
        </p:nvSpPr>
        <p:spPr>
          <a:xfrm>
            <a:off x="153340" y="3113018"/>
            <a:ext cx="10859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(ApplicationOwner)</a:t>
            </a: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ADB315B-EF26-FC9B-E1EE-47741B62C6B2}"/>
              </a:ext>
            </a:extLst>
          </p:cNvPr>
          <p:cNvGrpSpPr/>
          <p:nvPr/>
        </p:nvGrpSpPr>
        <p:grpSpPr>
          <a:xfrm>
            <a:off x="5567397" y="2401861"/>
            <a:ext cx="1027115" cy="625779"/>
            <a:chOff x="467041" y="2358392"/>
            <a:chExt cx="1027115" cy="625779"/>
          </a:xfrm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09EB24B2-80B9-BB9B-7DBB-6C0C5728E01C}"/>
                </a:ext>
              </a:extLst>
            </p:cNvPr>
            <p:cNvSpPr/>
            <p:nvPr/>
          </p:nvSpPr>
          <p:spPr>
            <a:xfrm>
              <a:off x="474325" y="2358392"/>
              <a:ext cx="1019831" cy="62577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895086CA-393E-126C-FF2E-465F5C631AB8}"/>
                </a:ext>
              </a:extLst>
            </p:cNvPr>
            <p:cNvSpPr txBox="1"/>
            <p:nvPr/>
          </p:nvSpPr>
          <p:spPr>
            <a:xfrm>
              <a:off x="467041" y="2737950"/>
              <a:ext cx="10198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Product Owner</a:t>
              </a:r>
            </a:p>
          </p:txBody>
        </p:sp>
        <p:pic>
          <p:nvPicPr>
            <p:cNvPr id="51" name="Grafik 50" descr="Person Krone männlich Silhouette">
              <a:extLst>
                <a:ext uri="{FF2B5EF4-FFF2-40B4-BE49-F238E27FC236}">
                  <a16:creationId xmlns:a16="http://schemas.microsoft.com/office/drawing/2014/main" id="{BEC551AD-9041-5A04-7AD8-A925314D0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842" y="2402040"/>
              <a:ext cx="388231" cy="388231"/>
            </a:xfrm>
            <a:prstGeom prst="rect">
              <a:avLst/>
            </a:prstGeom>
          </p:spPr>
        </p:pic>
      </p:grp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A235FB89-14A0-18C1-B890-5C59678A3A18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V="1">
            <a:off x="3203267" y="175442"/>
            <a:ext cx="1413992" cy="3253384"/>
          </a:xfrm>
          <a:prstGeom prst="bentConnector2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83002591-72E4-E558-682A-56479079EB24}"/>
              </a:ext>
            </a:extLst>
          </p:cNvPr>
          <p:cNvCxnSpPr>
            <a:cxnSpLocks/>
            <a:stCxn id="63" idx="2"/>
          </p:cNvCxnSpPr>
          <p:nvPr/>
        </p:nvCxnSpPr>
        <p:spPr>
          <a:xfrm rot="5400000">
            <a:off x="2922279" y="1928095"/>
            <a:ext cx="1828020" cy="3401332"/>
          </a:xfrm>
          <a:prstGeom prst="bentConnector2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5FB83153-B1EA-4791-0EE0-7C45B7BDEF1A}"/>
              </a:ext>
            </a:extLst>
          </p:cNvPr>
          <p:cNvGrpSpPr/>
          <p:nvPr/>
        </p:nvGrpSpPr>
        <p:grpSpPr>
          <a:xfrm>
            <a:off x="5385010" y="2509130"/>
            <a:ext cx="327048" cy="333782"/>
            <a:chOff x="5385010" y="2509130"/>
            <a:chExt cx="327048" cy="333782"/>
          </a:xfrm>
        </p:grpSpPr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04F9C187-B5C6-01AF-A20B-3A6B0D06BCEC}"/>
                </a:ext>
              </a:extLst>
            </p:cNvPr>
            <p:cNvSpPr/>
            <p:nvPr/>
          </p:nvSpPr>
          <p:spPr>
            <a:xfrm>
              <a:off x="5432225" y="2509130"/>
              <a:ext cx="209460" cy="2056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E1FD2859-988E-6B0B-C13C-B73CED24691B}"/>
                </a:ext>
              </a:extLst>
            </p:cNvPr>
            <p:cNvSpPr/>
            <p:nvPr/>
          </p:nvSpPr>
          <p:spPr>
            <a:xfrm>
              <a:off x="5502598" y="2574206"/>
              <a:ext cx="209460" cy="2056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069EF3E2-8C14-B22A-F1FB-027C10F31B89}"/>
                </a:ext>
              </a:extLst>
            </p:cNvPr>
            <p:cNvSpPr/>
            <p:nvPr/>
          </p:nvSpPr>
          <p:spPr>
            <a:xfrm>
              <a:off x="5385010" y="2637291"/>
              <a:ext cx="209460" cy="2056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3" name="Textfeld 72">
            <a:extLst>
              <a:ext uri="{FF2B5EF4-FFF2-40B4-BE49-F238E27FC236}">
                <a16:creationId xmlns:a16="http://schemas.microsoft.com/office/drawing/2014/main" id="{9CA91811-CA53-412F-9506-745BF7FD6EF9}"/>
              </a:ext>
            </a:extLst>
          </p:cNvPr>
          <p:cNvSpPr txBox="1"/>
          <p:nvPr/>
        </p:nvSpPr>
        <p:spPr>
          <a:xfrm>
            <a:off x="5536955" y="1609921"/>
            <a:ext cx="11253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Demand review</a:t>
            </a:r>
          </a:p>
          <a:p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of stable requirements,</a:t>
            </a:r>
          </a:p>
          <a:p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Get package approval</a:t>
            </a:r>
          </a:p>
        </p:txBody>
      </p: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CF9B647B-3FB7-8B01-4F91-38B53CE04FC7}"/>
              </a:ext>
            </a:extLst>
          </p:cNvPr>
          <p:cNvCxnSpPr>
            <a:cxnSpLocks/>
          </p:cNvCxnSpPr>
          <p:nvPr/>
        </p:nvCxnSpPr>
        <p:spPr>
          <a:xfrm flipV="1">
            <a:off x="2124768" y="2866173"/>
            <a:ext cx="3320862" cy="16120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76FDE4F7-06D6-1A65-6357-A223CA06D07C}"/>
              </a:ext>
            </a:extLst>
          </p:cNvPr>
          <p:cNvSpPr txBox="1"/>
          <p:nvPr/>
        </p:nvSpPr>
        <p:spPr>
          <a:xfrm>
            <a:off x="4470702" y="2488815"/>
            <a:ext cx="93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>
                <a:solidFill>
                  <a:schemeClr val="accent4">
                    <a:lumMod val="50000"/>
                  </a:schemeClr>
                </a:solidFill>
              </a:rPr>
              <a:t>Review OK/NOK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DF25894D-0FA1-0FC8-018D-D45619914A03}"/>
              </a:ext>
            </a:extLst>
          </p:cNvPr>
          <p:cNvSpPr/>
          <p:nvPr/>
        </p:nvSpPr>
        <p:spPr>
          <a:xfrm>
            <a:off x="4436659" y="674119"/>
            <a:ext cx="2264505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9FDB5A45-D8EA-17B5-EA93-361971BEAC70}"/>
              </a:ext>
            </a:extLst>
          </p:cNvPr>
          <p:cNvSpPr/>
          <p:nvPr/>
        </p:nvSpPr>
        <p:spPr>
          <a:xfrm>
            <a:off x="4504871" y="715499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2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F30062F7-BDC0-2D3C-EA03-35C4BDE9A8AB}"/>
              </a:ext>
            </a:extLst>
          </p:cNvPr>
          <p:cNvGrpSpPr/>
          <p:nvPr/>
        </p:nvGrpSpPr>
        <p:grpSpPr>
          <a:xfrm>
            <a:off x="8185782" y="2547859"/>
            <a:ext cx="327048" cy="333782"/>
            <a:chOff x="8558316" y="2883953"/>
            <a:chExt cx="327048" cy="333782"/>
          </a:xfrm>
        </p:grpSpPr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CAC1D4AF-4015-3E4F-E09F-0E43AF33B7DB}"/>
                </a:ext>
              </a:extLst>
            </p:cNvPr>
            <p:cNvSpPr/>
            <p:nvPr/>
          </p:nvSpPr>
          <p:spPr>
            <a:xfrm>
              <a:off x="8605531" y="2883953"/>
              <a:ext cx="209460" cy="20562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7B188EB6-8760-7566-A932-FFD501D5D336}"/>
                </a:ext>
              </a:extLst>
            </p:cNvPr>
            <p:cNvSpPr/>
            <p:nvPr/>
          </p:nvSpPr>
          <p:spPr>
            <a:xfrm>
              <a:off x="8675904" y="2949029"/>
              <a:ext cx="209460" cy="20562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7F343EDA-68E3-3968-96ED-3ECB362AC419}"/>
                </a:ext>
              </a:extLst>
            </p:cNvPr>
            <p:cNvSpPr/>
            <p:nvPr/>
          </p:nvSpPr>
          <p:spPr>
            <a:xfrm>
              <a:off x="8558316" y="3012114"/>
              <a:ext cx="209460" cy="20562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3" name="Bogen 92">
            <a:extLst>
              <a:ext uri="{FF2B5EF4-FFF2-40B4-BE49-F238E27FC236}">
                <a16:creationId xmlns:a16="http://schemas.microsoft.com/office/drawing/2014/main" id="{F85422B6-A604-9E86-B288-6FAF63A99F1A}"/>
              </a:ext>
            </a:extLst>
          </p:cNvPr>
          <p:cNvSpPr/>
          <p:nvPr/>
        </p:nvSpPr>
        <p:spPr>
          <a:xfrm rot="10800000">
            <a:off x="5493710" y="2002336"/>
            <a:ext cx="2747444" cy="1679588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27374FE0-A3FE-25D5-175E-1AADC4A90917}"/>
              </a:ext>
            </a:extLst>
          </p:cNvPr>
          <p:cNvSpPr txBox="1"/>
          <p:nvPr/>
        </p:nvSpPr>
        <p:spPr>
          <a:xfrm>
            <a:off x="6738066" y="3673677"/>
            <a:ext cx="143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accent6">
                    <a:lumMod val="75000"/>
                  </a:schemeClr>
                </a:solidFill>
              </a:rPr>
              <a:t>Transform requirements into capabilties,</a:t>
            </a:r>
          </a:p>
          <a:p>
            <a:r>
              <a:rPr lang="de-DE" sz="900">
                <a:solidFill>
                  <a:schemeClr val="accent6">
                    <a:lumMod val="75000"/>
                  </a:schemeClr>
                </a:solidFill>
              </a:rPr>
              <a:t>Create spec</a:t>
            </a:r>
          </a:p>
          <a:p>
            <a:r>
              <a:rPr lang="de-DE" sz="900">
                <a:solidFill>
                  <a:schemeClr val="accent6">
                    <a:lumMod val="75000"/>
                  </a:schemeClr>
                </a:solidFill>
              </a:rPr>
              <a:t>(incl. testing)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958D777C-9590-7A75-04C0-1DCBB27A4883}"/>
              </a:ext>
            </a:extLst>
          </p:cNvPr>
          <p:cNvSpPr/>
          <p:nvPr/>
        </p:nvSpPr>
        <p:spPr>
          <a:xfrm>
            <a:off x="6726011" y="678611"/>
            <a:ext cx="1950630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24DE5858-C9D2-6EF5-29E6-8CA04F7456F1}"/>
              </a:ext>
            </a:extLst>
          </p:cNvPr>
          <p:cNvSpPr/>
          <p:nvPr/>
        </p:nvSpPr>
        <p:spPr>
          <a:xfrm>
            <a:off x="6773989" y="703930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3</a:t>
            </a:r>
          </a:p>
        </p:txBody>
      </p: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160508CF-D01F-9F38-8DF7-9FA0CF8E7E45}"/>
              </a:ext>
            </a:extLst>
          </p:cNvPr>
          <p:cNvCxnSpPr>
            <a:cxnSpLocks/>
            <a:stCxn id="3" idx="1"/>
            <a:endCxn id="87" idx="0"/>
          </p:cNvCxnSpPr>
          <p:nvPr/>
        </p:nvCxnSpPr>
        <p:spPr>
          <a:xfrm rot="10800000" flipV="1">
            <a:off x="8337727" y="1421279"/>
            <a:ext cx="1119934" cy="1126579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27E7E8EA-20AD-C493-53C2-7AB20B12FAC8}"/>
              </a:ext>
            </a:extLst>
          </p:cNvPr>
          <p:cNvSpPr txBox="1"/>
          <p:nvPr/>
        </p:nvSpPr>
        <p:spPr>
          <a:xfrm>
            <a:off x="8703989" y="1068567"/>
            <a:ext cx="93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accent4">
                    <a:lumMod val="50000"/>
                  </a:schemeClr>
                </a:solidFill>
              </a:rPr>
              <a:t>Implement client code</a:t>
            </a:r>
          </a:p>
        </p:txBody>
      </p: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1CC7F320-F3D4-718E-86EF-357FAF14EFE5}"/>
              </a:ext>
            </a:extLst>
          </p:cNvPr>
          <p:cNvGrpSpPr/>
          <p:nvPr/>
        </p:nvGrpSpPr>
        <p:grpSpPr>
          <a:xfrm>
            <a:off x="8870024" y="2341486"/>
            <a:ext cx="899605" cy="668693"/>
            <a:chOff x="8870024" y="2341486"/>
            <a:chExt cx="899605" cy="668693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37130BE5-E22D-8161-2E45-9AD4E4842396}"/>
                </a:ext>
              </a:extLst>
            </p:cNvPr>
            <p:cNvSpPr/>
            <p:nvPr/>
          </p:nvSpPr>
          <p:spPr>
            <a:xfrm>
              <a:off x="8870024" y="2349277"/>
              <a:ext cx="899605" cy="66090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DD81E853-03EA-FFA8-F952-1905BC0FEC8C}"/>
                </a:ext>
              </a:extLst>
            </p:cNvPr>
            <p:cNvSpPr txBox="1"/>
            <p:nvPr/>
          </p:nvSpPr>
          <p:spPr>
            <a:xfrm>
              <a:off x="8870024" y="2724234"/>
              <a:ext cx="89960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Implementer</a:t>
              </a:r>
            </a:p>
          </p:txBody>
        </p:sp>
        <p:pic>
          <p:nvPicPr>
            <p:cNvPr id="109" name="Grafik 108" descr="Benutzer mit einfarbiger Füllung">
              <a:extLst>
                <a:ext uri="{FF2B5EF4-FFF2-40B4-BE49-F238E27FC236}">
                  <a16:creationId xmlns:a16="http://schemas.microsoft.com/office/drawing/2014/main" id="{B89B60FD-A392-C84C-FC7E-08E5C990C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04208" y="2341486"/>
              <a:ext cx="395323" cy="395323"/>
            </a:xfrm>
            <a:prstGeom prst="rect">
              <a:avLst/>
            </a:prstGeom>
          </p:spPr>
        </p:pic>
      </p:grpSp>
      <p:sp>
        <p:nvSpPr>
          <p:cNvPr id="112" name="Textfeld 111">
            <a:extLst>
              <a:ext uri="{FF2B5EF4-FFF2-40B4-BE49-F238E27FC236}">
                <a16:creationId xmlns:a16="http://schemas.microsoft.com/office/drawing/2014/main" id="{A08515A2-EB92-A53F-1B13-0C870002BBF6}"/>
              </a:ext>
            </a:extLst>
          </p:cNvPr>
          <p:cNvSpPr txBox="1"/>
          <p:nvPr/>
        </p:nvSpPr>
        <p:spPr>
          <a:xfrm>
            <a:off x="8754701" y="3499611"/>
            <a:ext cx="143235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bg2">
                    <a:lumMod val="50000"/>
                  </a:schemeClr>
                </a:solidFill>
              </a:rPr>
              <a:t>Review spec for errors</a:t>
            </a:r>
          </a:p>
          <a:p>
            <a:r>
              <a:rPr lang="de-DE" sz="900">
                <a:solidFill>
                  <a:schemeClr val="bg2">
                    <a:lumMod val="50000"/>
                  </a:schemeClr>
                </a:solidFill>
              </a:rPr>
              <a:t>Implements release</a:t>
            </a:r>
          </a:p>
          <a:p>
            <a:r>
              <a:rPr lang="de-DE" sz="900">
                <a:solidFill>
                  <a:schemeClr val="bg2">
                    <a:lumMod val="50000"/>
                  </a:schemeClr>
                </a:solidFill>
              </a:rPr>
              <a:t>(incl. testing)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1C5277EC-91B8-94CC-941F-19708F8C1FD7}"/>
              </a:ext>
            </a:extLst>
          </p:cNvPr>
          <p:cNvSpPr/>
          <p:nvPr/>
        </p:nvSpPr>
        <p:spPr>
          <a:xfrm>
            <a:off x="8705187" y="674118"/>
            <a:ext cx="1950630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6552A03C-4896-411D-90FA-E1B36D3A6B0A}"/>
              </a:ext>
            </a:extLst>
          </p:cNvPr>
          <p:cNvSpPr/>
          <p:nvPr/>
        </p:nvSpPr>
        <p:spPr>
          <a:xfrm>
            <a:off x="8727988" y="703930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4</a:t>
            </a:r>
          </a:p>
        </p:txBody>
      </p:sp>
      <p:sp>
        <p:nvSpPr>
          <p:cNvPr id="115" name="Rechteck: abgerundete Ecken 114">
            <a:extLst>
              <a:ext uri="{FF2B5EF4-FFF2-40B4-BE49-F238E27FC236}">
                <a16:creationId xmlns:a16="http://schemas.microsoft.com/office/drawing/2014/main" id="{6FC209EB-1926-A9B2-06CC-6A126795437A}"/>
              </a:ext>
            </a:extLst>
          </p:cNvPr>
          <p:cNvSpPr/>
          <p:nvPr/>
        </p:nvSpPr>
        <p:spPr>
          <a:xfrm>
            <a:off x="1733114" y="5478530"/>
            <a:ext cx="1778598" cy="556496"/>
          </a:xfrm>
          <a:prstGeom prst="roundRect">
            <a:avLst>
              <a:gd name="adj" fmla="val 91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1ABCE325-148C-B797-CF58-6BEAC68988BC}"/>
              </a:ext>
            </a:extLst>
          </p:cNvPr>
          <p:cNvSpPr txBox="1"/>
          <p:nvPr/>
        </p:nvSpPr>
        <p:spPr>
          <a:xfrm>
            <a:off x="1741369" y="545310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Requirements: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 u="sng"/>
              <a:t>What</a:t>
            </a:r>
            <a:r>
              <a:rPr lang="de-DE" sz="800"/>
              <a:t>, not </a:t>
            </a:r>
            <a:r>
              <a:rPr lang="de-DE" sz="800" b="1"/>
              <a:t>how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Quality-compliant </a:t>
            </a:r>
            <a:r>
              <a:rPr lang="de-DE" sz="800"/>
              <a:t>requirements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/>
              <a:t>Include </a:t>
            </a:r>
            <a:r>
              <a:rPr lang="de-DE" sz="800" b="1"/>
              <a:t>acceptance criteria</a:t>
            </a:r>
          </a:p>
        </p:txBody>
      </p:sp>
      <p:sp>
        <p:nvSpPr>
          <p:cNvPr id="117" name="Pfeil: nach unten 116">
            <a:extLst>
              <a:ext uri="{FF2B5EF4-FFF2-40B4-BE49-F238E27FC236}">
                <a16:creationId xmlns:a16="http://schemas.microsoft.com/office/drawing/2014/main" id="{E849B8B9-E07A-65D1-7EB5-528949735BAE}"/>
              </a:ext>
            </a:extLst>
          </p:cNvPr>
          <p:cNvSpPr/>
          <p:nvPr/>
        </p:nvSpPr>
        <p:spPr>
          <a:xfrm rot="10800000">
            <a:off x="2587582" y="5211927"/>
            <a:ext cx="160187" cy="174653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dk1"/>
              </a:solidFill>
            </a:endParaRP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F6C2B56-01EE-E80F-DF57-E10257CF9ACF}"/>
              </a:ext>
            </a:extLst>
          </p:cNvPr>
          <p:cNvSpPr txBox="1"/>
          <p:nvPr/>
        </p:nvSpPr>
        <p:spPr>
          <a:xfrm>
            <a:off x="6684855" y="5451234"/>
            <a:ext cx="1585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Capabilities/Spec: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 u="sng"/>
              <a:t>How</a:t>
            </a:r>
            <a:r>
              <a:rPr lang="de-DE" sz="800" b="1"/>
              <a:t> </a:t>
            </a:r>
            <a:r>
              <a:rPr lang="de-DE" sz="800"/>
              <a:t>to achieve the </a:t>
            </a:r>
            <a:r>
              <a:rPr lang="de-DE" sz="800" b="1"/>
              <a:t>what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Well-defined APIs</a:t>
            </a:r>
          </a:p>
          <a:p>
            <a:pPr marL="180975"/>
            <a:r>
              <a:rPr lang="de-DE" sz="800"/>
              <a:t>(well-defined Input/Output)</a:t>
            </a:r>
            <a:endParaRPr lang="de-DE" sz="800" b="1"/>
          </a:p>
        </p:txBody>
      </p:sp>
      <p:sp>
        <p:nvSpPr>
          <p:cNvPr id="120" name="Pfeil: nach unten 119">
            <a:extLst>
              <a:ext uri="{FF2B5EF4-FFF2-40B4-BE49-F238E27FC236}">
                <a16:creationId xmlns:a16="http://schemas.microsoft.com/office/drawing/2014/main" id="{0485ED9D-74FF-2B95-8D29-9B3E924097ED}"/>
              </a:ext>
            </a:extLst>
          </p:cNvPr>
          <p:cNvSpPr/>
          <p:nvPr/>
        </p:nvSpPr>
        <p:spPr>
          <a:xfrm rot="10800000">
            <a:off x="7269608" y="5204315"/>
            <a:ext cx="160187" cy="174653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07F7A413-B4C4-20C8-5F97-E6CB8ACE684C}"/>
              </a:ext>
            </a:extLst>
          </p:cNvPr>
          <p:cNvSpPr txBox="1"/>
          <p:nvPr/>
        </p:nvSpPr>
        <p:spPr>
          <a:xfrm>
            <a:off x="8884740" y="5442768"/>
            <a:ext cx="164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Implementation: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Pass tests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Fullfill acceptance criteria</a:t>
            </a:r>
          </a:p>
        </p:txBody>
      </p:sp>
      <p:sp>
        <p:nvSpPr>
          <p:cNvPr id="123" name="Pfeil: nach unten 122">
            <a:extLst>
              <a:ext uri="{FF2B5EF4-FFF2-40B4-BE49-F238E27FC236}">
                <a16:creationId xmlns:a16="http://schemas.microsoft.com/office/drawing/2014/main" id="{459A5A37-5875-FC79-E02F-E72AEEC1A402}"/>
              </a:ext>
            </a:extLst>
          </p:cNvPr>
          <p:cNvSpPr/>
          <p:nvPr/>
        </p:nvSpPr>
        <p:spPr>
          <a:xfrm rot="10800000">
            <a:off x="9439871" y="5195847"/>
            <a:ext cx="160187" cy="174653"/>
          </a:xfrm>
          <a:prstGeom prst="down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9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B51E390-7975-F590-5590-8EF8197E9BA6}"/>
              </a:ext>
            </a:extLst>
          </p:cNvPr>
          <p:cNvGrpSpPr/>
          <p:nvPr/>
        </p:nvGrpSpPr>
        <p:grpSpPr>
          <a:xfrm>
            <a:off x="9457661" y="1133655"/>
            <a:ext cx="1019831" cy="575250"/>
            <a:chOff x="453487" y="1060116"/>
            <a:chExt cx="1019831" cy="809327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B24880F7-A79B-B671-5455-C7B1342CCD17}"/>
                </a:ext>
              </a:extLst>
            </p:cNvPr>
            <p:cNvSpPr/>
            <p:nvPr/>
          </p:nvSpPr>
          <p:spPr>
            <a:xfrm>
              <a:off x="453487" y="1060116"/>
              <a:ext cx="1019831" cy="80932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63D32606-A61C-DA8D-37B9-60328B063788}"/>
                </a:ext>
              </a:extLst>
            </p:cNvPr>
            <p:cNvSpPr txBox="1"/>
            <p:nvPr/>
          </p:nvSpPr>
          <p:spPr>
            <a:xfrm>
              <a:off x="594696" y="1526411"/>
              <a:ext cx="752129" cy="257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Developer</a:t>
              </a:r>
            </a:p>
          </p:txBody>
        </p:sp>
      </p:grpSp>
      <p:pic>
        <p:nvPicPr>
          <p:cNvPr id="16" name="Grafik 15" descr="Benutzer mit einfarbiger Füllung">
            <a:extLst>
              <a:ext uri="{FF2B5EF4-FFF2-40B4-BE49-F238E27FC236}">
                <a16:creationId xmlns:a16="http://schemas.microsoft.com/office/drawing/2014/main" id="{1715161E-BC22-F39E-7A93-EA3506DA6C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65119" y="1131827"/>
            <a:ext cx="395323" cy="395323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35EF92F-7B33-945D-0A01-E60C4B4F041F}"/>
              </a:ext>
            </a:extLst>
          </p:cNvPr>
          <p:cNvGrpSpPr/>
          <p:nvPr/>
        </p:nvGrpSpPr>
        <p:grpSpPr>
          <a:xfrm>
            <a:off x="10820654" y="2349277"/>
            <a:ext cx="1058303" cy="614186"/>
            <a:chOff x="447244" y="1060116"/>
            <a:chExt cx="1058303" cy="838025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58C19BE1-FF52-55D0-8712-05547AF50C69}"/>
                </a:ext>
              </a:extLst>
            </p:cNvPr>
            <p:cNvSpPr/>
            <p:nvPr/>
          </p:nvSpPr>
          <p:spPr>
            <a:xfrm>
              <a:off x="453487" y="1060116"/>
              <a:ext cx="1019831" cy="83802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 descr="Person Krone männlich mit einfarbiger Füllung">
              <a:extLst>
                <a:ext uri="{FF2B5EF4-FFF2-40B4-BE49-F238E27FC236}">
                  <a16:creationId xmlns:a16="http://schemas.microsoft.com/office/drawing/2014/main" id="{6749439E-633A-9EBF-486A-12DEC9F9E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734" y="1142999"/>
              <a:ext cx="415339" cy="415339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388FB14-22AD-2D99-2D0F-65C074D7D329}"/>
                </a:ext>
              </a:extLst>
            </p:cNvPr>
            <p:cNvSpPr txBox="1"/>
            <p:nvPr/>
          </p:nvSpPr>
          <p:spPr>
            <a:xfrm>
              <a:off x="447244" y="1494623"/>
              <a:ext cx="10583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Product Owner</a:t>
              </a:r>
            </a:p>
          </p:txBody>
        </p:sp>
      </p:grpSp>
      <p:pic>
        <p:nvPicPr>
          <p:cNvPr id="52" name="Grafik 51" descr="Schachtel mit einfarbiger Füllung">
            <a:extLst>
              <a:ext uri="{FF2B5EF4-FFF2-40B4-BE49-F238E27FC236}">
                <a16:creationId xmlns:a16="http://schemas.microsoft.com/office/drawing/2014/main" id="{AA27C662-94E2-C178-E288-CBEBD98E09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5362" y="3178298"/>
            <a:ext cx="344844" cy="344844"/>
          </a:xfrm>
          <a:prstGeom prst="rect">
            <a:avLst/>
          </a:prstGeom>
        </p:spPr>
      </p:pic>
      <p:sp>
        <p:nvSpPr>
          <p:cNvPr id="55" name="Textfeld 54">
            <a:extLst>
              <a:ext uri="{FF2B5EF4-FFF2-40B4-BE49-F238E27FC236}">
                <a16:creationId xmlns:a16="http://schemas.microsoft.com/office/drawing/2014/main" id="{671A748F-39C6-E80D-B2A4-76D8EF6D84E3}"/>
              </a:ext>
            </a:extLst>
          </p:cNvPr>
          <p:cNvSpPr txBox="1"/>
          <p:nvPr/>
        </p:nvSpPr>
        <p:spPr>
          <a:xfrm>
            <a:off x="10803257" y="3007976"/>
            <a:ext cx="121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accent1">
                    <a:lumMod val="75000"/>
                  </a:schemeClr>
                </a:solidFill>
              </a:rPr>
              <a:t>OAT</a:t>
            </a:r>
          </a:p>
          <a:p>
            <a:r>
              <a:rPr lang="de-DE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 </a:t>
            </a:r>
            <a:r>
              <a:rPr lang="de-DE">
                <a:solidFill>
                  <a:schemeClr val="accent1">
                    <a:lumMod val="75000"/>
                  </a:schemeClr>
                </a:solidFill>
              </a:rPr>
              <a:t>Approval: ok/nok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089F5692-DD9D-6FC9-0A28-71AFE8CB9550}"/>
              </a:ext>
            </a:extLst>
          </p:cNvPr>
          <p:cNvSpPr/>
          <p:nvPr/>
        </p:nvSpPr>
        <p:spPr>
          <a:xfrm>
            <a:off x="10688180" y="1832533"/>
            <a:ext cx="1346255" cy="171670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F7817FF-2631-34EF-CB27-24D2BF0EB171}"/>
              </a:ext>
            </a:extLst>
          </p:cNvPr>
          <p:cNvSpPr/>
          <p:nvPr/>
        </p:nvSpPr>
        <p:spPr>
          <a:xfrm>
            <a:off x="10741375" y="1879298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308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DE0C-EF64-A7FE-F162-EEC0290F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hteck: abgerundete Ecken 121">
            <a:extLst>
              <a:ext uri="{FF2B5EF4-FFF2-40B4-BE49-F238E27FC236}">
                <a16:creationId xmlns:a16="http://schemas.microsoft.com/office/drawing/2014/main" id="{15AE653A-351C-EE73-13E7-917F6D2E1AE5}"/>
              </a:ext>
            </a:extLst>
          </p:cNvPr>
          <p:cNvSpPr/>
          <p:nvPr/>
        </p:nvSpPr>
        <p:spPr>
          <a:xfrm>
            <a:off x="8886150" y="5467224"/>
            <a:ext cx="1585689" cy="437209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9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EA7DD6D4-FDE3-37D0-4121-268BB50B3CB3}"/>
              </a:ext>
            </a:extLst>
          </p:cNvPr>
          <p:cNvSpPr/>
          <p:nvPr/>
        </p:nvSpPr>
        <p:spPr>
          <a:xfrm>
            <a:off x="6662330" y="5478530"/>
            <a:ext cx="1608215" cy="55649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8CFE16A8-48D2-8DF9-E33B-473DD2A1E407}"/>
              </a:ext>
            </a:extLst>
          </p:cNvPr>
          <p:cNvCxnSpPr>
            <a:cxnSpLocks/>
          </p:cNvCxnSpPr>
          <p:nvPr/>
        </p:nvCxnSpPr>
        <p:spPr>
          <a:xfrm>
            <a:off x="2215480" y="1130097"/>
            <a:ext cx="3253384" cy="13531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BFB1A87A-E0E5-FEEB-2301-B6F711F76703}"/>
              </a:ext>
            </a:extLst>
          </p:cNvPr>
          <p:cNvSpPr/>
          <p:nvPr/>
        </p:nvSpPr>
        <p:spPr>
          <a:xfrm>
            <a:off x="100117" y="674119"/>
            <a:ext cx="4311696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Bogen 38">
            <a:extLst>
              <a:ext uri="{FF2B5EF4-FFF2-40B4-BE49-F238E27FC236}">
                <a16:creationId xmlns:a16="http://schemas.microsoft.com/office/drawing/2014/main" id="{76282BD3-C889-0466-C4AF-903D4B3ABBCF}"/>
              </a:ext>
            </a:extLst>
          </p:cNvPr>
          <p:cNvSpPr/>
          <p:nvPr/>
        </p:nvSpPr>
        <p:spPr>
          <a:xfrm rot="10421487">
            <a:off x="1088240" y="2187092"/>
            <a:ext cx="1830084" cy="1729260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Bogen 20">
            <a:extLst>
              <a:ext uri="{FF2B5EF4-FFF2-40B4-BE49-F238E27FC236}">
                <a16:creationId xmlns:a16="http://schemas.microsoft.com/office/drawing/2014/main" id="{45372C03-6212-F286-4EB2-7E44B01837FA}"/>
              </a:ext>
            </a:extLst>
          </p:cNvPr>
          <p:cNvSpPr/>
          <p:nvPr/>
        </p:nvSpPr>
        <p:spPr>
          <a:xfrm>
            <a:off x="1101285" y="1743546"/>
            <a:ext cx="1830084" cy="1266632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B6FBE70-EAD5-8FF8-8547-5DD1E91B6AB6}"/>
              </a:ext>
            </a:extLst>
          </p:cNvPr>
          <p:cNvSpPr txBox="1"/>
          <p:nvPr/>
        </p:nvSpPr>
        <p:spPr>
          <a:xfrm>
            <a:off x="340397" y="186885"/>
            <a:ext cx="2638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Workflow: example APTP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CBDAB90-32D7-C402-4597-CF3A9E4F5103}"/>
              </a:ext>
            </a:extLst>
          </p:cNvPr>
          <p:cNvGrpSpPr/>
          <p:nvPr/>
        </p:nvGrpSpPr>
        <p:grpSpPr>
          <a:xfrm>
            <a:off x="1198017" y="1060178"/>
            <a:ext cx="1151277" cy="838025"/>
            <a:chOff x="387764" y="1060116"/>
            <a:chExt cx="1151277" cy="838025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AF4F578-5E32-BABD-B353-B916B2B10000}"/>
                </a:ext>
              </a:extLst>
            </p:cNvPr>
            <p:cNvSpPr/>
            <p:nvPr/>
          </p:nvSpPr>
          <p:spPr>
            <a:xfrm>
              <a:off x="453487" y="1060116"/>
              <a:ext cx="1019831" cy="83802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 descr="Person Krone männlich mit einfarbiger Füllung">
              <a:extLst>
                <a:ext uri="{FF2B5EF4-FFF2-40B4-BE49-F238E27FC236}">
                  <a16:creationId xmlns:a16="http://schemas.microsoft.com/office/drawing/2014/main" id="{91967696-09B6-EC26-4487-16386B047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734" y="1142999"/>
              <a:ext cx="415339" cy="415339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AF6B75A5-EDA4-078E-969B-43AF79B5C88E}"/>
                </a:ext>
              </a:extLst>
            </p:cNvPr>
            <p:cNvSpPr txBox="1"/>
            <p:nvPr/>
          </p:nvSpPr>
          <p:spPr>
            <a:xfrm>
              <a:off x="387764" y="1479126"/>
              <a:ext cx="1151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[ConsumerTeam]</a:t>
              </a:r>
            </a:p>
            <a:p>
              <a:r>
                <a:rPr lang="de-DE" sz="1000"/>
                <a:t>Product Owner</a:t>
              </a:r>
            </a:p>
          </p:txBody>
        </p:sp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9520D10C-AF47-EAFA-FFA6-39F30FE2484B}"/>
              </a:ext>
            </a:extLst>
          </p:cNvPr>
          <p:cNvSpPr txBox="1"/>
          <p:nvPr/>
        </p:nvSpPr>
        <p:spPr>
          <a:xfrm>
            <a:off x="2283571" y="1156024"/>
            <a:ext cx="1715534" cy="646331"/>
          </a:xfrm>
          <a:prstGeom prst="rect">
            <a:avLst/>
          </a:prstGeom>
          <a:solidFill>
            <a:srgbClr val="FFFFE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900"/>
              <a:t>Provides as input: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Business goals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Use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Unstructured requirements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D508199-CE58-6429-C7A8-F41C6D8E9702}"/>
              </a:ext>
            </a:extLst>
          </p:cNvPr>
          <p:cNvGrpSpPr/>
          <p:nvPr/>
        </p:nvGrpSpPr>
        <p:grpSpPr>
          <a:xfrm>
            <a:off x="170902" y="2357883"/>
            <a:ext cx="1027115" cy="1000529"/>
            <a:chOff x="467041" y="2358392"/>
            <a:chExt cx="1027115" cy="1000529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951361C-8F0D-91EF-7930-E4C88BE895B9}"/>
                </a:ext>
              </a:extLst>
            </p:cNvPr>
            <p:cNvSpPr/>
            <p:nvPr/>
          </p:nvSpPr>
          <p:spPr>
            <a:xfrm>
              <a:off x="474325" y="2358392"/>
              <a:ext cx="1019831" cy="100052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80F1054-B850-BBF9-E67F-A8D630DE8DCB}"/>
                </a:ext>
              </a:extLst>
            </p:cNvPr>
            <p:cNvSpPr txBox="1"/>
            <p:nvPr/>
          </p:nvSpPr>
          <p:spPr>
            <a:xfrm>
              <a:off x="467041" y="2737950"/>
              <a:ext cx="10198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[ProviderTeam]</a:t>
              </a:r>
            </a:p>
            <a:p>
              <a:r>
                <a:rPr lang="de-DE" sz="1000"/>
                <a:t>Product Owner</a:t>
              </a:r>
            </a:p>
          </p:txBody>
        </p:sp>
        <p:pic>
          <p:nvPicPr>
            <p:cNvPr id="24" name="Grafik 23" descr="Person Krone männlich Silhouette">
              <a:extLst>
                <a:ext uri="{FF2B5EF4-FFF2-40B4-BE49-F238E27FC236}">
                  <a16:creationId xmlns:a16="http://schemas.microsoft.com/office/drawing/2014/main" id="{4A9AEF54-2F4C-658B-711A-5DD22FEE2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842" y="2402040"/>
              <a:ext cx="388231" cy="388231"/>
            </a:xfrm>
            <a:prstGeom prst="rect">
              <a:avLst/>
            </a:prstGeom>
          </p:spPr>
        </p:pic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9E564336-A0C7-B07D-8CE0-1063D61BF5C3}"/>
              </a:ext>
            </a:extLst>
          </p:cNvPr>
          <p:cNvSpPr txBox="1"/>
          <p:nvPr/>
        </p:nvSpPr>
        <p:spPr>
          <a:xfrm>
            <a:off x="1256906" y="2315230"/>
            <a:ext cx="1397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Gather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Structure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Prioritize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Define requirement acceptance criteria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AB4ACAA-4034-092A-5DD7-10D4525BD972}"/>
              </a:ext>
            </a:extLst>
          </p:cNvPr>
          <p:cNvSpPr/>
          <p:nvPr/>
        </p:nvSpPr>
        <p:spPr>
          <a:xfrm>
            <a:off x="2845961" y="2440865"/>
            <a:ext cx="327048" cy="2971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D2A753A-194E-1028-6D86-55F3520BFD58}"/>
              </a:ext>
            </a:extLst>
          </p:cNvPr>
          <p:cNvSpPr/>
          <p:nvPr/>
        </p:nvSpPr>
        <p:spPr>
          <a:xfrm>
            <a:off x="2931369" y="2534908"/>
            <a:ext cx="327048" cy="2971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0A17F56-9840-07D2-D478-EB4DFDAAF7E7}"/>
              </a:ext>
            </a:extLst>
          </p:cNvPr>
          <p:cNvSpPr/>
          <p:nvPr/>
        </p:nvSpPr>
        <p:spPr>
          <a:xfrm>
            <a:off x="2747769" y="2626073"/>
            <a:ext cx="327048" cy="2971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67B0717-3F90-902A-60E0-8B1C83AA991C}"/>
              </a:ext>
            </a:extLst>
          </p:cNvPr>
          <p:cNvSpPr txBox="1"/>
          <p:nvPr/>
        </p:nvSpPr>
        <p:spPr>
          <a:xfrm>
            <a:off x="3245480" y="2461076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>
                <a:solidFill>
                  <a:schemeClr val="accent5">
                    <a:lumMod val="50000"/>
                  </a:schemeClr>
                </a:solidFill>
              </a:rPr>
              <a:t>structured</a:t>
            </a:r>
          </a:p>
          <a:p>
            <a:r>
              <a:rPr lang="de-DE" sz="800">
                <a:solidFill>
                  <a:schemeClr val="accent5">
                    <a:lumMod val="50000"/>
                  </a:schemeClr>
                </a:solidFill>
              </a:rPr>
              <a:t>requirements,</a:t>
            </a:r>
          </a:p>
          <a:p>
            <a:r>
              <a:rPr lang="de-DE" sz="800">
                <a:solidFill>
                  <a:schemeClr val="accent5">
                    <a:lumMod val="50000"/>
                  </a:schemeClr>
                </a:solidFill>
              </a:rPr>
              <a:t>Bundle into releases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E306D874-A250-552C-C732-FACA6A6A31F4}"/>
              </a:ext>
            </a:extLst>
          </p:cNvPr>
          <p:cNvGrpSpPr/>
          <p:nvPr/>
        </p:nvGrpSpPr>
        <p:grpSpPr>
          <a:xfrm>
            <a:off x="1171074" y="3847825"/>
            <a:ext cx="964547" cy="772408"/>
            <a:chOff x="453487" y="1060116"/>
            <a:chExt cx="1019831" cy="809326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5306FBB5-4669-70BE-E7E4-9BEF8168506E}"/>
                </a:ext>
              </a:extLst>
            </p:cNvPr>
            <p:cNvSpPr/>
            <p:nvPr/>
          </p:nvSpPr>
          <p:spPr>
            <a:xfrm>
              <a:off x="453487" y="1060116"/>
              <a:ext cx="1019831" cy="80932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E280BAB4-1773-E55E-83CD-E3459D0736AB}"/>
                </a:ext>
              </a:extLst>
            </p:cNvPr>
            <p:cNvSpPr txBox="1"/>
            <p:nvPr/>
          </p:nvSpPr>
          <p:spPr>
            <a:xfrm>
              <a:off x="602098" y="1450072"/>
              <a:ext cx="6896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Architect</a:t>
              </a:r>
            </a:p>
          </p:txBody>
        </p:sp>
      </p:grpSp>
      <p:pic>
        <p:nvPicPr>
          <p:cNvPr id="37" name="Grafik 36" descr="Benutzer mit einfarbiger Füllung">
            <a:extLst>
              <a:ext uri="{FF2B5EF4-FFF2-40B4-BE49-F238E27FC236}">
                <a16:creationId xmlns:a16="http://schemas.microsoft.com/office/drawing/2014/main" id="{6DB1FE44-A17B-5D1D-C421-9BE9DD678B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3731" y="3863998"/>
            <a:ext cx="395323" cy="395323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4DF296B9-82F5-7F0D-CCF0-7A97EA8D3124}"/>
              </a:ext>
            </a:extLst>
          </p:cNvPr>
          <p:cNvSpPr txBox="1"/>
          <p:nvPr/>
        </p:nvSpPr>
        <p:spPr>
          <a:xfrm>
            <a:off x="2135619" y="3947151"/>
            <a:ext cx="1810111" cy="507831"/>
          </a:xfrm>
          <a:prstGeom prst="rect">
            <a:avLst/>
          </a:prstGeom>
          <a:solidFill>
            <a:srgbClr val="FFFFE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900"/>
              <a:t>Can provide: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Technical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900"/>
              <a:t>Non-functional requirements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ACD8BFB-887A-989F-5FC0-9ECA8E54ECE5}"/>
              </a:ext>
            </a:extLst>
          </p:cNvPr>
          <p:cNvGrpSpPr/>
          <p:nvPr/>
        </p:nvGrpSpPr>
        <p:grpSpPr>
          <a:xfrm>
            <a:off x="7109436" y="2386083"/>
            <a:ext cx="689612" cy="775068"/>
            <a:chOff x="8445899" y="1288213"/>
            <a:chExt cx="689612" cy="775068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577FC88C-CC50-35A2-EFA4-3EE459763102}"/>
                </a:ext>
              </a:extLst>
            </p:cNvPr>
            <p:cNvSpPr/>
            <p:nvPr/>
          </p:nvSpPr>
          <p:spPr>
            <a:xfrm>
              <a:off x="8445899" y="1288213"/>
              <a:ext cx="648779" cy="775067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 descr="Benutzer Silhouette">
              <a:extLst>
                <a:ext uri="{FF2B5EF4-FFF2-40B4-BE49-F238E27FC236}">
                  <a16:creationId xmlns:a16="http://schemas.microsoft.com/office/drawing/2014/main" id="{2FF6DCB1-D336-655F-E3FB-F73E23885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30701" y="1288214"/>
              <a:ext cx="425429" cy="425429"/>
            </a:xfrm>
            <a:prstGeom prst="rect">
              <a:avLst/>
            </a:prstGeom>
          </p:spPr>
        </p:pic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0637E01-21C1-B841-049D-ABD8B8FE17B0}"/>
                </a:ext>
              </a:extLst>
            </p:cNvPr>
            <p:cNvSpPr txBox="1"/>
            <p:nvPr/>
          </p:nvSpPr>
          <p:spPr>
            <a:xfrm>
              <a:off x="8445899" y="1663171"/>
              <a:ext cx="6896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Analyst/</a:t>
              </a:r>
            </a:p>
            <a:p>
              <a:r>
                <a:rPr lang="de-DE" sz="1000"/>
                <a:t>Architect</a:t>
              </a:r>
            </a:p>
          </p:txBody>
        </p:sp>
      </p:grpSp>
      <p:sp>
        <p:nvSpPr>
          <p:cNvPr id="44" name="Ellipse 43">
            <a:extLst>
              <a:ext uri="{FF2B5EF4-FFF2-40B4-BE49-F238E27FC236}">
                <a16:creationId xmlns:a16="http://schemas.microsoft.com/office/drawing/2014/main" id="{EB307B64-43E0-4038-15AE-A8E71CF0B680}"/>
              </a:ext>
            </a:extLst>
          </p:cNvPr>
          <p:cNvSpPr/>
          <p:nvPr/>
        </p:nvSpPr>
        <p:spPr>
          <a:xfrm>
            <a:off x="153512" y="703930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00842D8-65C7-1F63-4855-176FB8CD2DDD}"/>
              </a:ext>
            </a:extLst>
          </p:cNvPr>
          <p:cNvSpPr txBox="1"/>
          <p:nvPr/>
        </p:nvSpPr>
        <p:spPr>
          <a:xfrm>
            <a:off x="153340" y="3113018"/>
            <a:ext cx="10859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(ApplicationOwner)</a:t>
            </a: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289B9986-E475-EB33-1DF2-6C2B10065460}"/>
              </a:ext>
            </a:extLst>
          </p:cNvPr>
          <p:cNvGrpSpPr/>
          <p:nvPr/>
        </p:nvGrpSpPr>
        <p:grpSpPr>
          <a:xfrm>
            <a:off x="5567397" y="2401861"/>
            <a:ext cx="1027115" cy="625779"/>
            <a:chOff x="467041" y="2358392"/>
            <a:chExt cx="1027115" cy="625779"/>
          </a:xfrm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C17DC139-72A5-C9C4-65D2-473EBE7076EA}"/>
                </a:ext>
              </a:extLst>
            </p:cNvPr>
            <p:cNvSpPr/>
            <p:nvPr/>
          </p:nvSpPr>
          <p:spPr>
            <a:xfrm>
              <a:off x="474325" y="2358392"/>
              <a:ext cx="1019831" cy="62577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966376B0-F234-B012-3353-8319F18B6C69}"/>
                </a:ext>
              </a:extLst>
            </p:cNvPr>
            <p:cNvSpPr txBox="1"/>
            <p:nvPr/>
          </p:nvSpPr>
          <p:spPr>
            <a:xfrm>
              <a:off x="467041" y="2737950"/>
              <a:ext cx="10198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Product Owner</a:t>
              </a:r>
            </a:p>
          </p:txBody>
        </p:sp>
        <p:pic>
          <p:nvPicPr>
            <p:cNvPr id="51" name="Grafik 50" descr="Person Krone männlich Silhouette">
              <a:extLst>
                <a:ext uri="{FF2B5EF4-FFF2-40B4-BE49-F238E27FC236}">
                  <a16:creationId xmlns:a16="http://schemas.microsoft.com/office/drawing/2014/main" id="{6278F1C3-966F-0980-794B-3E8115B78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842" y="2402040"/>
              <a:ext cx="388231" cy="388231"/>
            </a:xfrm>
            <a:prstGeom prst="rect">
              <a:avLst/>
            </a:prstGeom>
          </p:spPr>
        </p:pic>
      </p:grp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BD647870-CE80-D43F-D4FC-D7E746B90326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V="1">
            <a:off x="3203267" y="175442"/>
            <a:ext cx="1413992" cy="3253384"/>
          </a:xfrm>
          <a:prstGeom prst="bentConnector2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56161EF9-6977-D4D1-B261-72E5CECF7D09}"/>
              </a:ext>
            </a:extLst>
          </p:cNvPr>
          <p:cNvCxnSpPr>
            <a:cxnSpLocks/>
            <a:stCxn id="63" idx="2"/>
          </p:cNvCxnSpPr>
          <p:nvPr/>
        </p:nvCxnSpPr>
        <p:spPr>
          <a:xfrm rot="5400000">
            <a:off x="2922279" y="1928095"/>
            <a:ext cx="1828020" cy="3401332"/>
          </a:xfrm>
          <a:prstGeom prst="bentConnector2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E2553F60-44FD-D621-B4EF-61D642A59B8D}"/>
              </a:ext>
            </a:extLst>
          </p:cNvPr>
          <p:cNvGrpSpPr/>
          <p:nvPr/>
        </p:nvGrpSpPr>
        <p:grpSpPr>
          <a:xfrm>
            <a:off x="5385010" y="2509130"/>
            <a:ext cx="327048" cy="333782"/>
            <a:chOff x="5385010" y="2509130"/>
            <a:chExt cx="327048" cy="333782"/>
          </a:xfrm>
        </p:grpSpPr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FF93ABC5-2A17-ED5B-DD74-A918F7298805}"/>
                </a:ext>
              </a:extLst>
            </p:cNvPr>
            <p:cNvSpPr/>
            <p:nvPr/>
          </p:nvSpPr>
          <p:spPr>
            <a:xfrm>
              <a:off x="5432225" y="2509130"/>
              <a:ext cx="209460" cy="2056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73993E7E-83C0-FBBC-AB04-7599DC0A85DF}"/>
                </a:ext>
              </a:extLst>
            </p:cNvPr>
            <p:cNvSpPr/>
            <p:nvPr/>
          </p:nvSpPr>
          <p:spPr>
            <a:xfrm>
              <a:off x="5502598" y="2574206"/>
              <a:ext cx="209460" cy="2056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29F3B73D-6B78-FB2C-C0B2-AD63C1B80D00}"/>
                </a:ext>
              </a:extLst>
            </p:cNvPr>
            <p:cNvSpPr/>
            <p:nvPr/>
          </p:nvSpPr>
          <p:spPr>
            <a:xfrm>
              <a:off x="5385010" y="2637291"/>
              <a:ext cx="209460" cy="2056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3" name="Textfeld 72">
            <a:extLst>
              <a:ext uri="{FF2B5EF4-FFF2-40B4-BE49-F238E27FC236}">
                <a16:creationId xmlns:a16="http://schemas.microsoft.com/office/drawing/2014/main" id="{43D0C494-BC8A-5BBA-8978-C448D18D1491}"/>
              </a:ext>
            </a:extLst>
          </p:cNvPr>
          <p:cNvSpPr txBox="1"/>
          <p:nvPr/>
        </p:nvSpPr>
        <p:spPr>
          <a:xfrm>
            <a:off x="5536955" y="1609921"/>
            <a:ext cx="11253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Demand review</a:t>
            </a:r>
          </a:p>
          <a:p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of stable requirements,</a:t>
            </a:r>
          </a:p>
          <a:p>
            <a:r>
              <a:rPr lang="de-DE" sz="900">
                <a:solidFill>
                  <a:schemeClr val="accent5">
                    <a:lumMod val="75000"/>
                  </a:schemeClr>
                </a:solidFill>
              </a:rPr>
              <a:t>Get package approval</a:t>
            </a:r>
          </a:p>
        </p:txBody>
      </p: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3429F6F4-74B6-686A-5C24-5ED1E18C21AC}"/>
              </a:ext>
            </a:extLst>
          </p:cNvPr>
          <p:cNvCxnSpPr>
            <a:cxnSpLocks/>
          </p:cNvCxnSpPr>
          <p:nvPr/>
        </p:nvCxnSpPr>
        <p:spPr>
          <a:xfrm flipV="1">
            <a:off x="2124768" y="2866173"/>
            <a:ext cx="3320862" cy="16120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B449B40A-901D-2ED0-DC70-AED1066C1E16}"/>
              </a:ext>
            </a:extLst>
          </p:cNvPr>
          <p:cNvSpPr txBox="1"/>
          <p:nvPr/>
        </p:nvSpPr>
        <p:spPr>
          <a:xfrm>
            <a:off x="4470702" y="2488815"/>
            <a:ext cx="93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>
                <a:solidFill>
                  <a:schemeClr val="accent4">
                    <a:lumMod val="50000"/>
                  </a:schemeClr>
                </a:solidFill>
              </a:rPr>
              <a:t>Review OK/NOK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C8D5C4A-A5CB-7579-DD30-20F5A420FE6E}"/>
              </a:ext>
            </a:extLst>
          </p:cNvPr>
          <p:cNvSpPr/>
          <p:nvPr/>
        </p:nvSpPr>
        <p:spPr>
          <a:xfrm>
            <a:off x="4436659" y="674119"/>
            <a:ext cx="2264505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B93241C7-E39D-BC00-E29C-440ABCC633E4}"/>
              </a:ext>
            </a:extLst>
          </p:cNvPr>
          <p:cNvSpPr/>
          <p:nvPr/>
        </p:nvSpPr>
        <p:spPr>
          <a:xfrm>
            <a:off x="4504871" y="715499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2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AD587AE3-5A0D-589C-8FA1-110346B304E7}"/>
              </a:ext>
            </a:extLst>
          </p:cNvPr>
          <p:cNvGrpSpPr/>
          <p:nvPr/>
        </p:nvGrpSpPr>
        <p:grpSpPr>
          <a:xfrm>
            <a:off x="8185782" y="2547859"/>
            <a:ext cx="327048" cy="333782"/>
            <a:chOff x="8558316" y="2883953"/>
            <a:chExt cx="327048" cy="333782"/>
          </a:xfrm>
        </p:grpSpPr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7F1C5B79-70DE-DA5B-659D-63F0F4F42FAB}"/>
                </a:ext>
              </a:extLst>
            </p:cNvPr>
            <p:cNvSpPr/>
            <p:nvPr/>
          </p:nvSpPr>
          <p:spPr>
            <a:xfrm>
              <a:off x="8605531" y="2883953"/>
              <a:ext cx="209460" cy="20562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06E8D1CD-68A6-A7B6-537B-39D2ADE07820}"/>
                </a:ext>
              </a:extLst>
            </p:cNvPr>
            <p:cNvSpPr/>
            <p:nvPr/>
          </p:nvSpPr>
          <p:spPr>
            <a:xfrm>
              <a:off x="8675904" y="2949029"/>
              <a:ext cx="209460" cy="20562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52FFE7D5-FE5B-400F-AC75-40606A271449}"/>
                </a:ext>
              </a:extLst>
            </p:cNvPr>
            <p:cNvSpPr/>
            <p:nvPr/>
          </p:nvSpPr>
          <p:spPr>
            <a:xfrm>
              <a:off x="8558316" y="3012114"/>
              <a:ext cx="209460" cy="20562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3" name="Bogen 92">
            <a:extLst>
              <a:ext uri="{FF2B5EF4-FFF2-40B4-BE49-F238E27FC236}">
                <a16:creationId xmlns:a16="http://schemas.microsoft.com/office/drawing/2014/main" id="{099E336B-FE0B-E6FD-23E7-5880E602F57D}"/>
              </a:ext>
            </a:extLst>
          </p:cNvPr>
          <p:cNvSpPr/>
          <p:nvPr/>
        </p:nvSpPr>
        <p:spPr>
          <a:xfrm rot="10800000">
            <a:off x="5493710" y="2002336"/>
            <a:ext cx="2747444" cy="1679588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5208F876-8D4D-9501-D7EA-D1F50E40220E}"/>
              </a:ext>
            </a:extLst>
          </p:cNvPr>
          <p:cNvSpPr txBox="1"/>
          <p:nvPr/>
        </p:nvSpPr>
        <p:spPr>
          <a:xfrm>
            <a:off x="6738066" y="3673677"/>
            <a:ext cx="143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accent6">
                    <a:lumMod val="75000"/>
                  </a:schemeClr>
                </a:solidFill>
              </a:rPr>
              <a:t>Transform requirements into capabilties,</a:t>
            </a:r>
          </a:p>
          <a:p>
            <a:r>
              <a:rPr lang="de-DE" sz="900">
                <a:solidFill>
                  <a:schemeClr val="accent6">
                    <a:lumMod val="75000"/>
                  </a:schemeClr>
                </a:solidFill>
              </a:rPr>
              <a:t>Create spec</a:t>
            </a:r>
          </a:p>
          <a:p>
            <a:r>
              <a:rPr lang="de-DE" sz="900">
                <a:solidFill>
                  <a:schemeClr val="accent6">
                    <a:lumMod val="75000"/>
                  </a:schemeClr>
                </a:solidFill>
              </a:rPr>
              <a:t>(incl. testing)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C27C04DC-22D3-CC69-40E4-63DBC1BC8A90}"/>
              </a:ext>
            </a:extLst>
          </p:cNvPr>
          <p:cNvSpPr/>
          <p:nvPr/>
        </p:nvSpPr>
        <p:spPr>
          <a:xfrm>
            <a:off x="6726011" y="678611"/>
            <a:ext cx="1950630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A0C6048B-FBF0-7072-EC27-17F578F7A88B}"/>
              </a:ext>
            </a:extLst>
          </p:cNvPr>
          <p:cNvSpPr/>
          <p:nvPr/>
        </p:nvSpPr>
        <p:spPr>
          <a:xfrm>
            <a:off x="6773989" y="703930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3</a:t>
            </a:r>
          </a:p>
        </p:txBody>
      </p: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4E0BFCF5-9B81-3CFE-A984-80DFE7C4C9C2}"/>
              </a:ext>
            </a:extLst>
          </p:cNvPr>
          <p:cNvCxnSpPr>
            <a:cxnSpLocks/>
            <a:stCxn id="3" idx="1"/>
            <a:endCxn id="87" idx="0"/>
          </p:cNvCxnSpPr>
          <p:nvPr/>
        </p:nvCxnSpPr>
        <p:spPr>
          <a:xfrm rot="10800000" flipV="1">
            <a:off x="8337727" y="1421279"/>
            <a:ext cx="1119934" cy="1126579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63AB2475-687C-69B1-906C-A3AAAF3A4AC1}"/>
              </a:ext>
            </a:extLst>
          </p:cNvPr>
          <p:cNvSpPr txBox="1"/>
          <p:nvPr/>
        </p:nvSpPr>
        <p:spPr>
          <a:xfrm>
            <a:off x="8703989" y="1068567"/>
            <a:ext cx="93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accent4">
                    <a:lumMod val="50000"/>
                  </a:schemeClr>
                </a:solidFill>
              </a:rPr>
              <a:t>Implement client code</a:t>
            </a:r>
          </a:p>
        </p:txBody>
      </p:sp>
      <p:sp>
        <p:nvSpPr>
          <p:cNvPr id="111" name="Bogen 110">
            <a:extLst>
              <a:ext uri="{FF2B5EF4-FFF2-40B4-BE49-F238E27FC236}">
                <a16:creationId xmlns:a16="http://schemas.microsoft.com/office/drawing/2014/main" id="{0BD6DC21-F594-423B-06F5-AF6DAE364C49}"/>
              </a:ext>
            </a:extLst>
          </p:cNvPr>
          <p:cNvSpPr/>
          <p:nvPr/>
        </p:nvSpPr>
        <p:spPr>
          <a:xfrm rot="10800000">
            <a:off x="8319903" y="2461076"/>
            <a:ext cx="1018201" cy="850229"/>
          </a:xfrm>
          <a:prstGeom prst="arc">
            <a:avLst>
              <a:gd name="adj1" fmla="val 10880425"/>
              <a:gd name="adj2" fmla="val 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F324307B-EDAE-96DD-A4F1-4769A339A7A6}"/>
              </a:ext>
            </a:extLst>
          </p:cNvPr>
          <p:cNvGrpSpPr/>
          <p:nvPr/>
        </p:nvGrpSpPr>
        <p:grpSpPr>
          <a:xfrm>
            <a:off x="8870024" y="2341486"/>
            <a:ext cx="899605" cy="668693"/>
            <a:chOff x="8870024" y="2341486"/>
            <a:chExt cx="899605" cy="668693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428E1503-1117-1D8E-C155-5E7F2DDFCCB2}"/>
                </a:ext>
              </a:extLst>
            </p:cNvPr>
            <p:cNvSpPr/>
            <p:nvPr/>
          </p:nvSpPr>
          <p:spPr>
            <a:xfrm>
              <a:off x="8870024" y="2349277"/>
              <a:ext cx="899605" cy="66090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BFA47C13-D71C-46F7-E363-6091F796F00E}"/>
                </a:ext>
              </a:extLst>
            </p:cNvPr>
            <p:cNvSpPr txBox="1"/>
            <p:nvPr/>
          </p:nvSpPr>
          <p:spPr>
            <a:xfrm>
              <a:off x="8870024" y="2724234"/>
              <a:ext cx="89960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Implementer</a:t>
              </a:r>
            </a:p>
          </p:txBody>
        </p:sp>
        <p:pic>
          <p:nvPicPr>
            <p:cNvPr id="109" name="Grafik 108" descr="Benutzer mit einfarbiger Füllung">
              <a:extLst>
                <a:ext uri="{FF2B5EF4-FFF2-40B4-BE49-F238E27FC236}">
                  <a16:creationId xmlns:a16="http://schemas.microsoft.com/office/drawing/2014/main" id="{95AA21C8-11FD-4DB5-5074-B0F6C87B2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04208" y="2341486"/>
              <a:ext cx="395323" cy="395323"/>
            </a:xfrm>
            <a:prstGeom prst="rect">
              <a:avLst/>
            </a:prstGeom>
          </p:spPr>
        </p:pic>
      </p:grpSp>
      <p:sp>
        <p:nvSpPr>
          <p:cNvPr id="112" name="Textfeld 111">
            <a:extLst>
              <a:ext uri="{FF2B5EF4-FFF2-40B4-BE49-F238E27FC236}">
                <a16:creationId xmlns:a16="http://schemas.microsoft.com/office/drawing/2014/main" id="{E189B8E8-965F-B11E-6D23-80E3AB2BF9FE}"/>
              </a:ext>
            </a:extLst>
          </p:cNvPr>
          <p:cNvSpPr txBox="1"/>
          <p:nvPr/>
        </p:nvSpPr>
        <p:spPr>
          <a:xfrm>
            <a:off x="8829003" y="3366176"/>
            <a:ext cx="143235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bg2">
                    <a:lumMod val="50000"/>
                  </a:schemeClr>
                </a:solidFill>
              </a:rPr>
              <a:t>Review spec for errors</a:t>
            </a:r>
          </a:p>
          <a:p>
            <a:r>
              <a:rPr lang="de-DE" sz="900">
                <a:solidFill>
                  <a:schemeClr val="bg2">
                    <a:lumMod val="50000"/>
                  </a:schemeClr>
                </a:solidFill>
              </a:rPr>
              <a:t>Implements release</a:t>
            </a:r>
          </a:p>
          <a:p>
            <a:r>
              <a:rPr lang="de-DE" sz="900">
                <a:solidFill>
                  <a:schemeClr val="bg2">
                    <a:lumMod val="50000"/>
                  </a:schemeClr>
                </a:solidFill>
              </a:rPr>
              <a:t>(incl. testing)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E0E27C73-7E4E-C479-0E92-3CA70B89CCAE}"/>
              </a:ext>
            </a:extLst>
          </p:cNvPr>
          <p:cNvSpPr/>
          <p:nvPr/>
        </p:nvSpPr>
        <p:spPr>
          <a:xfrm>
            <a:off x="8705187" y="674118"/>
            <a:ext cx="1950630" cy="441265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293D7921-DF16-1783-D5B2-FE582FC7EFC8}"/>
              </a:ext>
            </a:extLst>
          </p:cNvPr>
          <p:cNvSpPr/>
          <p:nvPr/>
        </p:nvSpPr>
        <p:spPr>
          <a:xfrm>
            <a:off x="8727988" y="703930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4</a:t>
            </a:r>
          </a:p>
        </p:txBody>
      </p:sp>
      <p:sp>
        <p:nvSpPr>
          <p:cNvPr id="115" name="Rechteck: abgerundete Ecken 114">
            <a:extLst>
              <a:ext uri="{FF2B5EF4-FFF2-40B4-BE49-F238E27FC236}">
                <a16:creationId xmlns:a16="http://schemas.microsoft.com/office/drawing/2014/main" id="{3FDA4E7E-408D-774E-AD55-AA9E17913A56}"/>
              </a:ext>
            </a:extLst>
          </p:cNvPr>
          <p:cNvSpPr/>
          <p:nvPr/>
        </p:nvSpPr>
        <p:spPr>
          <a:xfrm>
            <a:off x="1733114" y="5478530"/>
            <a:ext cx="1778598" cy="556496"/>
          </a:xfrm>
          <a:prstGeom prst="roundRect">
            <a:avLst>
              <a:gd name="adj" fmla="val 91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2DA2565C-E103-E0EF-29B8-CEA9C93D6090}"/>
              </a:ext>
            </a:extLst>
          </p:cNvPr>
          <p:cNvSpPr txBox="1"/>
          <p:nvPr/>
        </p:nvSpPr>
        <p:spPr>
          <a:xfrm>
            <a:off x="1741369" y="545310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Requirements: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 u="sng"/>
              <a:t>What</a:t>
            </a:r>
            <a:r>
              <a:rPr lang="de-DE" sz="800"/>
              <a:t>, not </a:t>
            </a:r>
            <a:r>
              <a:rPr lang="de-DE" sz="800" b="1"/>
              <a:t>how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Quality-compliant </a:t>
            </a:r>
            <a:r>
              <a:rPr lang="de-DE" sz="800"/>
              <a:t>requirements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/>
              <a:t>Include </a:t>
            </a:r>
            <a:r>
              <a:rPr lang="de-DE" sz="800" b="1"/>
              <a:t>acceptance criteria</a:t>
            </a:r>
          </a:p>
        </p:txBody>
      </p:sp>
      <p:sp>
        <p:nvSpPr>
          <p:cNvPr id="117" name="Pfeil: nach unten 116">
            <a:extLst>
              <a:ext uri="{FF2B5EF4-FFF2-40B4-BE49-F238E27FC236}">
                <a16:creationId xmlns:a16="http://schemas.microsoft.com/office/drawing/2014/main" id="{A731B95B-B689-4077-5E45-89DC5D579EFA}"/>
              </a:ext>
            </a:extLst>
          </p:cNvPr>
          <p:cNvSpPr/>
          <p:nvPr/>
        </p:nvSpPr>
        <p:spPr>
          <a:xfrm rot="10800000">
            <a:off x="2587582" y="5211927"/>
            <a:ext cx="160187" cy="174653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dk1"/>
              </a:solidFill>
            </a:endParaRP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D3BC041-95C5-D1BE-979D-A03361CD0578}"/>
              </a:ext>
            </a:extLst>
          </p:cNvPr>
          <p:cNvSpPr txBox="1"/>
          <p:nvPr/>
        </p:nvSpPr>
        <p:spPr>
          <a:xfrm>
            <a:off x="6684855" y="5451234"/>
            <a:ext cx="1585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Capabilities/Spec: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 u="sng"/>
              <a:t>How</a:t>
            </a:r>
            <a:r>
              <a:rPr lang="de-DE" sz="800" b="1"/>
              <a:t> </a:t>
            </a:r>
            <a:r>
              <a:rPr lang="de-DE" sz="800"/>
              <a:t>to achieve the </a:t>
            </a:r>
            <a:r>
              <a:rPr lang="de-DE" sz="800" b="1"/>
              <a:t>what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Well-defined APIs</a:t>
            </a:r>
          </a:p>
          <a:p>
            <a:pPr marL="180975"/>
            <a:r>
              <a:rPr lang="de-DE" sz="800"/>
              <a:t>(well-defined Input/Output)</a:t>
            </a:r>
            <a:endParaRPr lang="de-DE" sz="800" b="1"/>
          </a:p>
        </p:txBody>
      </p:sp>
      <p:sp>
        <p:nvSpPr>
          <p:cNvPr id="120" name="Pfeil: nach unten 119">
            <a:extLst>
              <a:ext uri="{FF2B5EF4-FFF2-40B4-BE49-F238E27FC236}">
                <a16:creationId xmlns:a16="http://schemas.microsoft.com/office/drawing/2014/main" id="{A19A17A0-A5D3-1790-EDD0-6D1EA94454D7}"/>
              </a:ext>
            </a:extLst>
          </p:cNvPr>
          <p:cNvSpPr/>
          <p:nvPr/>
        </p:nvSpPr>
        <p:spPr>
          <a:xfrm rot="10800000">
            <a:off x="7269608" y="5204315"/>
            <a:ext cx="160187" cy="174653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AB4DD692-FDC7-7E36-4B68-1FAD5AD54A53}"/>
              </a:ext>
            </a:extLst>
          </p:cNvPr>
          <p:cNvSpPr txBox="1"/>
          <p:nvPr/>
        </p:nvSpPr>
        <p:spPr>
          <a:xfrm>
            <a:off x="8858897" y="5442768"/>
            <a:ext cx="164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Implementation: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Pass tests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800" b="1"/>
              <a:t>Fullfill acceptance criteria</a:t>
            </a:r>
          </a:p>
        </p:txBody>
      </p:sp>
      <p:sp>
        <p:nvSpPr>
          <p:cNvPr id="123" name="Pfeil: nach unten 122">
            <a:extLst>
              <a:ext uri="{FF2B5EF4-FFF2-40B4-BE49-F238E27FC236}">
                <a16:creationId xmlns:a16="http://schemas.microsoft.com/office/drawing/2014/main" id="{E327C601-CAE6-0A24-E3AF-1D83A641A6A7}"/>
              </a:ext>
            </a:extLst>
          </p:cNvPr>
          <p:cNvSpPr/>
          <p:nvPr/>
        </p:nvSpPr>
        <p:spPr>
          <a:xfrm rot="10800000">
            <a:off x="9439871" y="5195847"/>
            <a:ext cx="160187" cy="174653"/>
          </a:xfrm>
          <a:prstGeom prst="down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9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DA6DF13-D222-CA59-3930-91307FC51ED6}"/>
              </a:ext>
            </a:extLst>
          </p:cNvPr>
          <p:cNvGrpSpPr/>
          <p:nvPr/>
        </p:nvGrpSpPr>
        <p:grpSpPr>
          <a:xfrm>
            <a:off x="9457661" y="1133655"/>
            <a:ext cx="1019831" cy="575250"/>
            <a:chOff x="453487" y="1060116"/>
            <a:chExt cx="1019831" cy="809327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F6EF6451-573D-E490-783B-0507BF737CF0}"/>
                </a:ext>
              </a:extLst>
            </p:cNvPr>
            <p:cNvSpPr/>
            <p:nvPr/>
          </p:nvSpPr>
          <p:spPr>
            <a:xfrm>
              <a:off x="453487" y="1060116"/>
              <a:ext cx="1019831" cy="80932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05E98183-1A4C-61F9-938F-7D99A80B4840}"/>
                </a:ext>
              </a:extLst>
            </p:cNvPr>
            <p:cNvSpPr txBox="1"/>
            <p:nvPr/>
          </p:nvSpPr>
          <p:spPr>
            <a:xfrm>
              <a:off x="594696" y="1526411"/>
              <a:ext cx="752129" cy="257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Developer</a:t>
              </a:r>
            </a:p>
          </p:txBody>
        </p:sp>
      </p:grpSp>
      <p:pic>
        <p:nvPicPr>
          <p:cNvPr id="16" name="Grafik 15" descr="Benutzer mit einfarbiger Füllung">
            <a:extLst>
              <a:ext uri="{FF2B5EF4-FFF2-40B4-BE49-F238E27FC236}">
                <a16:creationId xmlns:a16="http://schemas.microsoft.com/office/drawing/2014/main" id="{B6998949-6877-C5C8-FE6A-BC4DEE818E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65119" y="1131827"/>
            <a:ext cx="395323" cy="3953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06860A8-90F1-36BD-8B69-D7EE00795E53}"/>
              </a:ext>
            </a:extLst>
          </p:cNvPr>
          <p:cNvSpPr txBox="1"/>
          <p:nvPr/>
        </p:nvSpPr>
        <p:spPr>
          <a:xfrm>
            <a:off x="1581030" y="84052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rgbClr val="0070C0"/>
                </a:solidFill>
              </a:rPr>
              <a:t>Sven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36B21B-363F-CBE5-CCC1-5E56B6E02576}"/>
              </a:ext>
            </a:extLst>
          </p:cNvPr>
          <p:cNvSpPr txBox="1"/>
          <p:nvPr/>
        </p:nvSpPr>
        <p:spPr>
          <a:xfrm>
            <a:off x="1263740" y="4582341"/>
            <a:ext cx="8034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rgbClr val="0070C0"/>
                </a:solidFill>
              </a:rPr>
              <a:t>Mentopolis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933A565-EF62-A0A7-EF1F-E3105457DC86}"/>
              </a:ext>
            </a:extLst>
          </p:cNvPr>
          <p:cNvSpPr txBox="1"/>
          <p:nvPr/>
        </p:nvSpPr>
        <p:spPr>
          <a:xfrm>
            <a:off x="9545178" y="905732"/>
            <a:ext cx="8034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rgbClr val="0070C0"/>
                </a:solidFill>
              </a:rPr>
              <a:t>Mentopolis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E8A9CFA-B888-73FE-5606-700A605298F7}"/>
              </a:ext>
            </a:extLst>
          </p:cNvPr>
          <p:cNvSpPr txBox="1"/>
          <p:nvPr/>
        </p:nvSpPr>
        <p:spPr>
          <a:xfrm>
            <a:off x="444205" y="3350350"/>
            <a:ext cx="39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chemeClr val="accent2">
                    <a:lumMod val="75000"/>
                  </a:schemeClr>
                </a:solidFill>
              </a:rPr>
              <a:t>Ana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6B18FBD-A854-381B-6757-231553D84761}"/>
              </a:ext>
            </a:extLst>
          </p:cNvPr>
          <p:cNvSpPr txBox="1"/>
          <p:nvPr/>
        </p:nvSpPr>
        <p:spPr>
          <a:xfrm>
            <a:off x="5877578" y="2989907"/>
            <a:ext cx="39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chemeClr val="accent2">
                    <a:lumMod val="75000"/>
                  </a:schemeClr>
                </a:solidFill>
              </a:rPr>
              <a:t>Ana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4B056AC-22D9-6F4B-709B-C8D8037EE96A}"/>
              </a:ext>
            </a:extLst>
          </p:cNvPr>
          <p:cNvSpPr txBox="1"/>
          <p:nvPr/>
        </p:nvSpPr>
        <p:spPr>
          <a:xfrm>
            <a:off x="7203292" y="3137551"/>
            <a:ext cx="39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chemeClr val="accent2">
                    <a:lumMod val="75000"/>
                  </a:schemeClr>
                </a:solidFill>
              </a:rPr>
              <a:t>Ana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8B2C427-843A-ACFB-FA42-8DDFA63B9CAC}"/>
              </a:ext>
            </a:extLst>
          </p:cNvPr>
          <p:cNvSpPr txBox="1"/>
          <p:nvPr/>
        </p:nvSpPr>
        <p:spPr>
          <a:xfrm>
            <a:off x="9086739" y="2095264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chemeClr val="accent2">
                    <a:lumMod val="75000"/>
                  </a:schemeClr>
                </a:solidFill>
              </a:rPr>
              <a:t>SIAE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FC77A93-A0E9-9E91-5A9B-470155818E06}"/>
              </a:ext>
            </a:extLst>
          </p:cNvPr>
          <p:cNvGrpSpPr/>
          <p:nvPr/>
        </p:nvGrpSpPr>
        <p:grpSpPr>
          <a:xfrm>
            <a:off x="10820654" y="2349277"/>
            <a:ext cx="1058303" cy="614186"/>
            <a:chOff x="447244" y="1060116"/>
            <a:chExt cx="1058303" cy="838025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8E59F4ED-5CC2-69BF-5324-0E43BDA3D4DF}"/>
                </a:ext>
              </a:extLst>
            </p:cNvPr>
            <p:cNvSpPr/>
            <p:nvPr/>
          </p:nvSpPr>
          <p:spPr>
            <a:xfrm>
              <a:off x="453487" y="1060116"/>
              <a:ext cx="1019831" cy="83802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 descr="Person Krone männlich mit einfarbiger Füllung">
              <a:extLst>
                <a:ext uri="{FF2B5EF4-FFF2-40B4-BE49-F238E27FC236}">
                  <a16:creationId xmlns:a16="http://schemas.microsoft.com/office/drawing/2014/main" id="{FB437EDF-3129-0EEB-F212-2E6AE8EC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734" y="1142999"/>
              <a:ext cx="415339" cy="415339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DFFFD4C-9EF1-F4D1-E46C-FBF166BFAA75}"/>
                </a:ext>
              </a:extLst>
            </p:cNvPr>
            <p:cNvSpPr txBox="1"/>
            <p:nvPr/>
          </p:nvSpPr>
          <p:spPr>
            <a:xfrm>
              <a:off x="447244" y="1494623"/>
              <a:ext cx="10583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/>
                <a:t>Product Owner</a:t>
              </a:r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237C82A2-E287-EF10-3473-E984AD346943}"/>
              </a:ext>
            </a:extLst>
          </p:cNvPr>
          <p:cNvSpPr txBox="1"/>
          <p:nvPr/>
        </p:nvSpPr>
        <p:spPr>
          <a:xfrm>
            <a:off x="10803257" y="3007976"/>
            <a:ext cx="121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accent1">
                    <a:lumMod val="75000"/>
                  </a:schemeClr>
                </a:solidFill>
              </a:rPr>
              <a:t>OAT</a:t>
            </a:r>
          </a:p>
          <a:p>
            <a:r>
              <a:rPr lang="de-DE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 </a:t>
            </a:r>
            <a:r>
              <a:rPr lang="de-DE">
                <a:solidFill>
                  <a:schemeClr val="accent1">
                    <a:lumMod val="75000"/>
                  </a:schemeClr>
                </a:solidFill>
              </a:rPr>
              <a:t>Approval: ok/nok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291BDBB-5723-3EE6-F8DB-675F170FDA98}"/>
              </a:ext>
            </a:extLst>
          </p:cNvPr>
          <p:cNvSpPr/>
          <p:nvPr/>
        </p:nvSpPr>
        <p:spPr>
          <a:xfrm>
            <a:off x="10688180" y="1832533"/>
            <a:ext cx="1346255" cy="171670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9FEAA2BE-FA2B-F654-5716-BD14C95175E2}"/>
              </a:ext>
            </a:extLst>
          </p:cNvPr>
          <p:cNvSpPr/>
          <p:nvPr/>
        </p:nvSpPr>
        <p:spPr>
          <a:xfrm>
            <a:off x="10741375" y="1879298"/>
            <a:ext cx="186885" cy="166862"/>
          </a:xfrm>
          <a:prstGeom prst="ellipse">
            <a:avLst/>
          </a:prstGeom>
          <a:solidFill>
            <a:schemeClr val="tx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5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C1DE13AC-144A-9ABC-3E6E-D28C603DA3B9}"/>
              </a:ext>
            </a:extLst>
          </p:cNvPr>
          <p:cNvSpPr txBox="1"/>
          <p:nvPr/>
        </p:nvSpPr>
        <p:spPr>
          <a:xfrm>
            <a:off x="11090715" y="213064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>
                <a:solidFill>
                  <a:srgbClr val="0070C0"/>
                </a:solidFill>
              </a:rPr>
              <a:t>Sven</a:t>
            </a:r>
          </a:p>
        </p:txBody>
      </p:sp>
    </p:spTree>
    <p:extLst>
      <p:ext uri="{BB962C8B-B14F-4D97-AF65-F5344CB8AC3E}">
        <p14:creationId xmlns:p14="http://schemas.microsoft.com/office/powerpoint/2010/main" val="4063898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Breitbild</PresentationFormat>
  <Paragraphs>128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Wingdings</vt:lpstr>
      <vt:lpstr>Office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Mohr (External)</dc:creator>
  <cp:lastModifiedBy>Katharina Mohr (External)</cp:lastModifiedBy>
  <cp:revision>117</cp:revision>
  <dcterms:created xsi:type="dcterms:W3CDTF">2026-03-09T12:40:39Z</dcterms:created>
  <dcterms:modified xsi:type="dcterms:W3CDTF">2026-03-10T11:03:30Z</dcterms:modified>
</cp:coreProperties>
</file>