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822" y="120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46F366-77B4-FB1E-D861-13D5FEE621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8734F72-2AC0-9CF7-BF25-75E355BEE2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7B2AA7-8313-F3E0-7EA9-1C6D580B7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EAC5B-F25E-4F8A-9924-6726B5164A86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895E109-34F7-5F28-D70B-A9F9231DF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D556813-ABFB-8A24-A0C4-C071A87A4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3FC6E-419A-4B7B-8E8F-71CAC9CAD0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9423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0371F8-3040-1356-1ABA-5B24DB5D9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A2555-D8B1-120E-BCE9-BCC4F046F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91B1034-0B35-CA31-A400-85252135E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EAC5B-F25E-4F8A-9924-6726B5164A86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6F5948-AE14-C5A8-0F53-C2532B751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22D2AE-8C58-DB9E-867B-C7DC2938C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3FC6E-419A-4B7B-8E8F-71CAC9CAD0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6699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D5B353-48F6-05AB-CCB8-E261FE01A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0E85E46-2817-BD4A-8531-588D5D0DF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09C4917-2E42-A277-98A3-6A75BF88F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EAC5B-F25E-4F8A-9924-6726B5164A86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35E9B37-8C48-94B1-2506-74E9D4513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EB1C85B-533F-725A-AADB-CADFAFEFE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3FC6E-419A-4B7B-8E8F-71CAC9CAD0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76366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A57197-F54E-B868-988D-6E893C193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0A0AA7-4B1C-0F3E-020B-757D49DB97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443C0C7-8D30-38F3-A763-9604D0A8CF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5849AC6-3FAB-EB23-C1E9-040461481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EAC5B-F25E-4F8A-9924-6726B5164A86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B0EBEBC-704B-8085-23DA-F0ED264FA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FF9A63C-D47C-13C5-B45F-4AFF672B9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3FC6E-419A-4B7B-8E8F-71CAC9CAD0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8392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B9EF31-4AEF-2B69-4D53-FFA25089A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8835E7D-FCC4-7757-C190-D34BB4962E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8DB0611-4FF4-4732-FA5F-C97A175F8B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6935A1-B1CA-3843-32CB-2A9876D665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4852BDF-670C-EB7D-7364-3517CB161C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79863C3-E788-BC14-142F-44AB2D506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EAC5B-F25E-4F8A-9924-6726B5164A86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534CB22-9C47-4B1E-8317-D43F3AF68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4C64777-A07A-902D-78F7-B4EB90BB9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3FC6E-419A-4B7B-8E8F-71CAC9CAD0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63197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B39C53-0512-2636-E9A3-9E294100D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48CAEB9-5120-29D4-2067-25339372E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EAC5B-F25E-4F8A-9924-6726B5164A86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A32493C-24B9-F5A8-88A0-7D84FB2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5D2279E-C714-799E-A8EC-1A65BA1E6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3FC6E-419A-4B7B-8E8F-71CAC9CAD0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2320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EBA053E-E5CD-C7E3-8C15-F094B8C9F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EAC5B-F25E-4F8A-9924-6726B5164A86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36C8554-0CD5-5913-215B-14226E369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2C1EDF-F9EE-0E6E-811F-89D33AF1D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3FC6E-419A-4B7B-8E8F-71CAC9CAD0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1926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DDBE7B-6B0B-F92B-BD54-254FB4131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673A28B-223E-FEED-8137-B2FF7A731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B76F990-2D68-1275-04E3-35C734A97C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D6D0AF6-BAAF-3CDE-1246-AD0CC6EF4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EAC5B-F25E-4F8A-9924-6726B5164A86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4E41D75-5188-0CCF-320E-302B9BB5D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9A52454-5DD9-A7B0-66C5-860CCB63B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3FC6E-419A-4B7B-8E8F-71CAC9CAD0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84358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50D796-FFF8-AAD9-3CA2-51B2AD1CD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9F9EC87-0F75-9426-FB9E-48FF490AC1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484D88E-C6BC-8F9B-8B32-286EA266E7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28A44C-874F-68DD-D9A1-B6ED46F80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EAC5B-F25E-4F8A-9924-6726B5164A86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80BFF24-7191-5148-1B9A-F24395848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299132B-90D0-EFAC-A401-A30EAD81C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3FC6E-419A-4B7B-8E8F-71CAC9CAD0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34924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68AAB7-7394-4CA5-0A84-3B65BAFF0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277E81B-582E-8A83-FAF3-8315585E43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D9BC5DE-3E62-D387-F691-7B7CD9056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EAC5B-F25E-4F8A-9924-6726B5164A86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205F2AF-492E-70BF-6DBC-60F3B646E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A2C89DC-FD4D-D5D0-523D-E0511B2B2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3FC6E-419A-4B7B-8E8F-71CAC9CAD0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4008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C6F328A-5DDD-5A21-B263-7529C9F2FC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41376EA-1B63-66C3-5E69-ABE1ED48FE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9A0F44-7C1B-5732-5841-E1E24E170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EAC5B-F25E-4F8A-9924-6726B5164A86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8200B7B-FEEC-5AAA-8977-79E8F77ED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5A44CB1-96FB-AD06-5A3F-22680B4AB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3FC6E-419A-4B7B-8E8F-71CAC9CAD0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6660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25B4542-9853-E2A2-C1D1-C231EEF55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AA700F5-E534-82D3-A4C7-C60B77AA58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D97D1AC-2492-AE95-C1BF-2E4F0552B1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EEAC5B-F25E-4F8A-9924-6726B5164A86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E78AB5E-A3F5-1186-59D9-1E039645D3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583E26-2C8B-A593-7B0E-D7D8B686F9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D3FC6E-419A-4B7B-8E8F-71CAC9CAD0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097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E9480-7426-5C10-2836-492DFB390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74476BE3-8296-D5ED-F9EA-5B6515792A0E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2865545" y="1975100"/>
            <a:ext cx="837562" cy="10888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2FFB5A04-6ED7-4F9A-FE4F-DDDC892CD7B5}"/>
              </a:ext>
            </a:extLst>
          </p:cNvPr>
          <p:cNvCxnSpPr>
            <a:cxnSpLocks/>
            <a:stCxn id="30" idx="3"/>
            <a:endCxn id="86" idx="1"/>
          </p:cNvCxnSpPr>
          <p:nvPr/>
        </p:nvCxnSpPr>
        <p:spPr>
          <a:xfrm>
            <a:off x="5210845" y="861909"/>
            <a:ext cx="885155" cy="3938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0A2F948F-68AA-35AF-A9E0-6A99BC264C49}"/>
              </a:ext>
            </a:extLst>
          </p:cNvPr>
          <p:cNvCxnSpPr>
            <a:cxnSpLocks/>
            <a:stCxn id="15" idx="1"/>
            <a:endCxn id="76" idx="3"/>
          </p:cNvCxnSpPr>
          <p:nvPr/>
        </p:nvCxnSpPr>
        <p:spPr>
          <a:xfrm flipH="1">
            <a:off x="3335081" y="2418296"/>
            <a:ext cx="527757" cy="241926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7ABF2E7B-4DE0-9AA9-1D52-AAEA71D70FE3}"/>
              </a:ext>
            </a:extLst>
          </p:cNvPr>
          <p:cNvSpPr/>
          <p:nvPr/>
        </p:nvSpPr>
        <p:spPr>
          <a:xfrm>
            <a:off x="246955" y="324990"/>
            <a:ext cx="1114633" cy="200234"/>
          </a:xfrm>
          <a:prstGeom prst="roundRect">
            <a:avLst/>
          </a:prstGeom>
          <a:solidFill>
            <a:srgbClr val="473464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13: mass rollout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6E325C3A-F6AF-979F-0DD4-49D5C5D31545}"/>
              </a:ext>
            </a:extLst>
          </p:cNvPr>
          <p:cNvSpPr/>
          <p:nvPr/>
        </p:nvSpPr>
        <p:spPr>
          <a:xfrm>
            <a:off x="278126" y="4435805"/>
            <a:ext cx="1114633" cy="347072"/>
          </a:xfrm>
          <a:prstGeom prst="roundRect">
            <a:avLst/>
          </a:prstGeom>
          <a:solidFill>
            <a:srgbClr val="473464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14: FW check + upgrade (1 IDU)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8ACA6686-D050-4D06-EAF1-9952884C3EF5}"/>
              </a:ext>
            </a:extLst>
          </p:cNvPr>
          <p:cNvSpPr/>
          <p:nvPr/>
        </p:nvSpPr>
        <p:spPr>
          <a:xfrm>
            <a:off x="256050" y="5219671"/>
            <a:ext cx="1114633" cy="347072"/>
          </a:xfrm>
          <a:prstGeom prst="roundRect">
            <a:avLst/>
          </a:prstGeom>
          <a:solidFill>
            <a:srgbClr val="473464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15: on-demand FW upgrade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F9841D81-9929-AF76-B81E-2601EA6D310D}"/>
              </a:ext>
            </a:extLst>
          </p:cNvPr>
          <p:cNvSpPr/>
          <p:nvPr/>
        </p:nvSpPr>
        <p:spPr>
          <a:xfrm>
            <a:off x="255941" y="3854015"/>
            <a:ext cx="1114633" cy="347072"/>
          </a:xfrm>
          <a:prstGeom prst="roundRect">
            <a:avLst/>
          </a:prstGeom>
          <a:solidFill>
            <a:srgbClr val="473464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16: QM FW reporting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780F74C1-8BDA-EFF2-0B70-10F66864E3D5}"/>
              </a:ext>
            </a:extLst>
          </p:cNvPr>
          <p:cNvSpPr/>
          <p:nvPr/>
        </p:nvSpPr>
        <p:spPr>
          <a:xfrm>
            <a:off x="318172" y="5793641"/>
            <a:ext cx="1114633" cy="200234"/>
          </a:xfrm>
          <a:prstGeom prst="roundRect">
            <a:avLst/>
          </a:prstGeom>
          <a:gradFill flip="none" rotWithShape="1">
            <a:gsLst>
              <a:gs pos="0">
                <a:srgbClr val="FFFFCC"/>
              </a:gs>
              <a:gs pos="100000">
                <a:srgbClr val="FFC000"/>
              </a:gs>
            </a:gsLst>
            <a:lin ang="2700000" scaled="1"/>
            <a:tileRect/>
          </a:gra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31: all vendors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CFC4AF12-2190-A668-7663-C7752E18D4D8}"/>
              </a:ext>
            </a:extLst>
          </p:cNvPr>
          <p:cNvSpPr/>
          <p:nvPr/>
        </p:nvSpPr>
        <p:spPr>
          <a:xfrm>
            <a:off x="2060717" y="2157091"/>
            <a:ext cx="1114633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>
                <a:solidFill>
                  <a:schemeClr val="tx1">
                    <a:lumMod val="75000"/>
                    <a:lumOff val="25000"/>
                  </a:schemeClr>
                </a:solidFill>
              </a:rPr>
              <a:t>33: GUI UX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14B9CCA2-6636-EE0A-AE09-1DB478BDEAFB}"/>
              </a:ext>
            </a:extLst>
          </p:cNvPr>
          <p:cNvSpPr/>
          <p:nvPr/>
        </p:nvSpPr>
        <p:spPr>
          <a:xfrm>
            <a:off x="2060717" y="1774866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17: GUI module; projects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E58189CE-7D72-A8B9-45C2-76F9110E8681}"/>
              </a:ext>
            </a:extLst>
          </p:cNvPr>
          <p:cNvSpPr/>
          <p:nvPr/>
        </p:nvSpPr>
        <p:spPr>
          <a:xfrm>
            <a:off x="2060717" y="1221533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18: interface to MDOI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A55C2C5C-6953-41BB-D4D2-F11366560080}"/>
              </a:ext>
            </a:extLst>
          </p:cNvPr>
          <p:cNvSpPr/>
          <p:nvPr/>
        </p:nvSpPr>
        <p:spPr>
          <a:xfrm>
            <a:off x="3946210" y="1550611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19: maintain IDU blacklist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FDCD43D9-D745-3A93-32B4-86265A1FE048}"/>
              </a:ext>
            </a:extLst>
          </p:cNvPr>
          <p:cNvSpPr/>
          <p:nvPr/>
        </p:nvSpPr>
        <p:spPr>
          <a:xfrm>
            <a:off x="5999518" y="1552144"/>
            <a:ext cx="1609656" cy="200234"/>
          </a:xfrm>
          <a:prstGeom prst="roundRect">
            <a:avLst/>
          </a:prstGeom>
          <a:solidFill>
            <a:srgbClr val="FFC000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20: exclude blacklist IDUs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F1C43BB4-25A4-59CB-3CA8-208D4D20D3D6}"/>
              </a:ext>
            </a:extLst>
          </p:cNvPr>
          <p:cNvSpPr/>
          <p:nvPr/>
        </p:nvSpPr>
        <p:spPr>
          <a:xfrm>
            <a:off x="3946210" y="1810470"/>
            <a:ext cx="1609656" cy="200234"/>
          </a:xfrm>
          <a:prstGeom prst="roundRect">
            <a:avLst/>
          </a:prstGeom>
          <a:solidFill>
            <a:srgbClr val="FFC000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21: mapping IDU – device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F971BF0-D5EF-77CB-38D7-8DFB0693DB73}"/>
              </a:ext>
            </a:extLst>
          </p:cNvPr>
          <p:cNvSpPr/>
          <p:nvPr/>
        </p:nvSpPr>
        <p:spPr>
          <a:xfrm>
            <a:off x="3862838" y="2318179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22: project scheduling 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FEC9018B-0677-E7E2-BA77-48A530E9F20C}"/>
              </a:ext>
            </a:extLst>
          </p:cNvPr>
          <p:cNvSpPr/>
          <p:nvPr/>
        </p:nvSpPr>
        <p:spPr>
          <a:xfrm>
            <a:off x="3862838" y="2530706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24: manual project exec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2E126FCF-87DB-1DB3-11EF-E9377C64E00F}"/>
              </a:ext>
            </a:extLst>
          </p:cNvPr>
          <p:cNvSpPr/>
          <p:nvPr/>
        </p:nvSpPr>
        <p:spPr>
          <a:xfrm>
            <a:off x="7704540" y="2953736"/>
            <a:ext cx="1609656" cy="200234"/>
          </a:xfrm>
          <a:prstGeom prst="roundRect">
            <a:avLst/>
          </a:prstGeom>
          <a:gradFill flip="none" rotWithShape="1">
            <a:gsLst>
              <a:gs pos="0">
                <a:srgbClr val="FFFFCC"/>
              </a:gs>
              <a:gs pos="100000">
                <a:srgbClr val="FFC000"/>
              </a:gs>
            </a:gsLst>
            <a:lin ang="2700000" scaled="1"/>
            <a:tileRect/>
          </a:gra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25: list upgrade results 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27B14644-1D6D-95D8-5390-2F8530C150CA}"/>
              </a:ext>
            </a:extLst>
          </p:cNvPr>
          <p:cNvSpPr/>
          <p:nvPr/>
        </p:nvSpPr>
        <p:spPr>
          <a:xfrm>
            <a:off x="9757295" y="2853619"/>
            <a:ext cx="1609656" cy="200234"/>
          </a:xfrm>
          <a:prstGeom prst="roundRect">
            <a:avLst/>
          </a:prstGeom>
          <a:solidFill>
            <a:srgbClr val="FFC000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26: meaningful SDN responses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927C8A30-9143-346D-4FC6-25F5B017C841}"/>
              </a:ext>
            </a:extLst>
          </p:cNvPr>
          <p:cNvSpPr/>
          <p:nvPr/>
        </p:nvSpPr>
        <p:spPr>
          <a:xfrm>
            <a:off x="9757295" y="3053853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27: GUI interprets responses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BA7C0129-1D2B-81C9-15E6-9EC0293530EC}"/>
              </a:ext>
            </a:extLst>
          </p:cNvPr>
          <p:cNvSpPr/>
          <p:nvPr/>
        </p:nvSpPr>
        <p:spPr>
          <a:xfrm>
            <a:off x="5698313" y="2318179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23: interface TSM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9A670ABB-2F3A-F93B-5104-90BC0C0CB535}"/>
              </a:ext>
            </a:extLst>
          </p:cNvPr>
          <p:cNvSpPr/>
          <p:nvPr/>
        </p:nvSpPr>
        <p:spPr>
          <a:xfrm>
            <a:off x="3601189" y="146058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28: access GLORIA</a:t>
            </a: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7F2019ED-EC46-9AC0-AAA4-FDD409784D08}"/>
              </a:ext>
            </a:extLst>
          </p:cNvPr>
          <p:cNvSpPr/>
          <p:nvPr/>
        </p:nvSpPr>
        <p:spPr>
          <a:xfrm>
            <a:off x="3601189" y="338505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29: download FW to NMS</a:t>
            </a:r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DAE74876-1E1E-9DE9-EA77-39C2F96C834D}"/>
              </a:ext>
            </a:extLst>
          </p:cNvPr>
          <p:cNvSpPr/>
          <p:nvPr/>
        </p:nvSpPr>
        <p:spPr>
          <a:xfrm>
            <a:off x="3601189" y="547091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30: FW housekeeping 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9C5EB281-9431-F999-E027-71F08989110B}"/>
              </a:ext>
            </a:extLst>
          </p:cNvPr>
          <p:cNvSpPr/>
          <p:nvPr/>
        </p:nvSpPr>
        <p:spPr>
          <a:xfrm>
            <a:off x="7704540" y="3240748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32: change log </a:t>
            </a:r>
          </a:p>
        </p:txBody>
      </p: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33432EE1-214D-CC15-C019-9FCFE0D9C1AF}"/>
              </a:ext>
            </a:extLst>
          </p:cNvPr>
          <p:cNvSpPr/>
          <p:nvPr/>
        </p:nvSpPr>
        <p:spPr>
          <a:xfrm>
            <a:off x="6217341" y="5395259"/>
            <a:ext cx="1609656" cy="200234"/>
          </a:xfrm>
          <a:prstGeom prst="roundRect">
            <a:avLst/>
          </a:prstGeom>
          <a:gradFill flip="none" rotWithShape="1">
            <a:gsLst>
              <a:gs pos="0">
                <a:srgbClr val="FFFFCC"/>
              </a:gs>
              <a:gs pos="100000">
                <a:srgbClr val="FFC000"/>
              </a:gs>
            </a:gsLst>
            <a:lin ang="2700000" scaled="1"/>
            <a:tileRect/>
          </a:gra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34: get current installed FW</a:t>
            </a:r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6A795C43-C9E3-DA12-664D-422080AB9DBA}"/>
              </a:ext>
            </a:extLst>
          </p:cNvPr>
          <p:cNvSpPr/>
          <p:nvPr/>
        </p:nvSpPr>
        <p:spPr>
          <a:xfrm>
            <a:off x="8326404" y="5278424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700">
                <a:solidFill>
                  <a:schemeClr val="tx1"/>
                </a:solidFill>
              </a:rPr>
              <a:t>35: GUI dialogue: get installed FW</a:t>
            </a: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86C7D3AD-0820-614F-F97E-1C77793C632E}"/>
              </a:ext>
            </a:extLst>
          </p:cNvPr>
          <p:cNvSpPr/>
          <p:nvPr/>
        </p:nvSpPr>
        <p:spPr>
          <a:xfrm>
            <a:off x="8326404" y="5502562"/>
            <a:ext cx="1609656" cy="200234"/>
          </a:xfrm>
          <a:prstGeom prst="roundRect">
            <a:avLst/>
          </a:prstGeom>
          <a:solidFill>
            <a:srgbClr val="FFC000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36: SDN: get FW from device</a:t>
            </a:r>
            <a:r>
              <a:rPr lang="de-DE" sz="100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696169DF-A8DB-31A6-8F6B-3B87FA220C82}"/>
              </a:ext>
            </a:extLst>
          </p:cNvPr>
          <p:cNvSpPr/>
          <p:nvPr/>
        </p:nvSpPr>
        <p:spPr>
          <a:xfrm>
            <a:off x="4018109" y="5741750"/>
            <a:ext cx="1756774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37: FW upgrade (auto/manual)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5318B987-3B03-EA3E-0B79-2127AB610D65}"/>
              </a:ext>
            </a:extLst>
          </p:cNvPr>
          <p:cNvSpPr/>
          <p:nvPr/>
        </p:nvSpPr>
        <p:spPr>
          <a:xfrm>
            <a:off x="3987229" y="4753885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38: periodic comparisons </a:t>
            </a:r>
          </a:p>
        </p:txBody>
      </p:sp>
      <p:sp>
        <p:nvSpPr>
          <p:cNvPr id="30" name="Rechteck: abgerundete Ecken 29">
            <a:extLst>
              <a:ext uri="{FF2B5EF4-FFF2-40B4-BE49-F238E27FC236}">
                <a16:creationId xmlns:a16="http://schemas.microsoft.com/office/drawing/2014/main" id="{5D16DD4B-8C69-791E-01BC-651BB1FDBB4B}"/>
              </a:ext>
            </a:extLst>
          </p:cNvPr>
          <p:cNvSpPr/>
          <p:nvPr/>
        </p:nvSpPr>
        <p:spPr>
          <a:xfrm>
            <a:off x="3601189" y="761792"/>
            <a:ext cx="1609656" cy="200234"/>
          </a:xfrm>
          <a:prstGeom prst="roundRect">
            <a:avLst/>
          </a:prstGeom>
          <a:solidFill>
            <a:srgbClr val="FFC000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39: upload FW to devices </a:t>
            </a:r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3A82F7CB-272F-1089-77CF-E51FEB9C54D1}"/>
              </a:ext>
            </a:extLst>
          </p:cNvPr>
          <p:cNvSpPr/>
          <p:nvPr/>
        </p:nvSpPr>
        <p:spPr>
          <a:xfrm>
            <a:off x="5698313" y="2973753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41: auto-handing problem IDUs </a:t>
            </a: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B0AFD010-EBBB-2046-D60C-144931BB4BC2}"/>
              </a:ext>
            </a:extLst>
          </p:cNvPr>
          <p:cNvSpPr/>
          <p:nvPr/>
        </p:nvSpPr>
        <p:spPr>
          <a:xfrm>
            <a:off x="298148" y="6068765"/>
            <a:ext cx="1154679" cy="200234"/>
          </a:xfrm>
          <a:prstGeom prst="roundRect">
            <a:avLst/>
          </a:prstGeom>
          <a:gradFill flip="none" rotWithShape="1">
            <a:gsLst>
              <a:gs pos="0">
                <a:srgbClr val="FFFFCC"/>
              </a:gs>
              <a:gs pos="100000">
                <a:srgbClr val="FFC000"/>
              </a:gs>
            </a:gsLst>
            <a:lin ang="2700000" scaled="1"/>
            <a:tileRect/>
          </a:gra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42: basekey usage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21FA8C0-0D72-25CC-2DF1-7AD7B74961B0}"/>
              </a:ext>
            </a:extLst>
          </p:cNvPr>
          <p:cNvCxnSpPr>
            <a:stCxn id="12" idx="3"/>
            <a:endCxn id="13" idx="1"/>
          </p:cNvCxnSpPr>
          <p:nvPr/>
        </p:nvCxnSpPr>
        <p:spPr>
          <a:xfrm>
            <a:off x="5555866" y="1650728"/>
            <a:ext cx="443652" cy="15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FC4D9577-0E9A-9CA9-4279-A5074CBAE4A0}"/>
              </a:ext>
            </a:extLst>
          </p:cNvPr>
          <p:cNvCxnSpPr>
            <a:cxnSpLocks/>
            <a:stCxn id="15" idx="3"/>
            <a:endCxn id="20" idx="1"/>
          </p:cNvCxnSpPr>
          <p:nvPr/>
        </p:nvCxnSpPr>
        <p:spPr>
          <a:xfrm>
            <a:off x="5472494" y="2418296"/>
            <a:ext cx="225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9BEC850B-E5DF-36CC-7304-0F5D6F176329}"/>
              </a:ext>
            </a:extLst>
          </p:cNvPr>
          <p:cNvCxnSpPr>
            <a:cxnSpLocks/>
            <a:stCxn id="17" idx="3"/>
            <a:endCxn id="18" idx="1"/>
          </p:cNvCxnSpPr>
          <p:nvPr/>
        </p:nvCxnSpPr>
        <p:spPr>
          <a:xfrm flipV="1">
            <a:off x="9314196" y="2953736"/>
            <a:ext cx="443099" cy="1001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2C2215B3-CB7A-6BEC-71A3-0DAC4B820D7B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9314196" y="3053853"/>
            <a:ext cx="443099" cy="1001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67AFAF2-4AD6-891B-5456-CD18DE5E5820}"/>
              </a:ext>
            </a:extLst>
          </p:cNvPr>
          <p:cNvCxnSpPr>
            <a:stCxn id="32" idx="3"/>
            <a:endCxn id="17" idx="1"/>
          </p:cNvCxnSpPr>
          <p:nvPr/>
        </p:nvCxnSpPr>
        <p:spPr>
          <a:xfrm flipV="1">
            <a:off x="7307969" y="3053853"/>
            <a:ext cx="396571" cy="200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1D17997E-CBD6-F4E2-CF8D-15E4EBA5BC61}"/>
              </a:ext>
            </a:extLst>
          </p:cNvPr>
          <p:cNvCxnSpPr>
            <a:stCxn id="32" idx="3"/>
            <a:endCxn id="24" idx="1"/>
          </p:cNvCxnSpPr>
          <p:nvPr/>
        </p:nvCxnSpPr>
        <p:spPr>
          <a:xfrm>
            <a:off x="7307969" y="3073870"/>
            <a:ext cx="396571" cy="2669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F1C4A2CA-59F7-3231-E057-7D0F2650A593}"/>
              </a:ext>
            </a:extLst>
          </p:cNvPr>
          <p:cNvSpPr/>
          <p:nvPr/>
        </p:nvSpPr>
        <p:spPr>
          <a:xfrm>
            <a:off x="6217341" y="5144967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44: determine target FW version</a:t>
            </a: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D5750E51-B026-D4E8-E949-C9162BD16072}"/>
              </a:ext>
            </a:extLst>
          </p:cNvPr>
          <p:cNvSpPr/>
          <p:nvPr/>
        </p:nvSpPr>
        <p:spPr>
          <a:xfrm>
            <a:off x="2038532" y="317367"/>
            <a:ext cx="1191113" cy="577718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45: FW distribution orchestration</a:t>
            </a:r>
          </a:p>
          <a:p>
            <a:r>
              <a:rPr lang="de-DE" sz="900">
                <a:solidFill>
                  <a:schemeClr val="tx1"/>
                </a:solidFill>
              </a:rPr>
              <a:t>(ClusterIssue - no requirement)</a:t>
            </a:r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E4648FCD-EED0-B14A-7AE3-69B19B050CBA}"/>
              </a:ext>
            </a:extLst>
          </p:cNvPr>
          <p:cNvCxnSpPr>
            <a:cxnSpLocks/>
            <a:stCxn id="41" idx="3"/>
            <a:endCxn id="21" idx="1"/>
          </p:cNvCxnSpPr>
          <p:nvPr/>
        </p:nvCxnSpPr>
        <p:spPr>
          <a:xfrm flipV="1">
            <a:off x="3229645" y="246175"/>
            <a:ext cx="371544" cy="3600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2698FA7C-4387-46DD-4154-495FC5C38633}"/>
              </a:ext>
            </a:extLst>
          </p:cNvPr>
          <p:cNvCxnSpPr>
            <a:cxnSpLocks/>
            <a:stCxn id="41" idx="3"/>
            <a:endCxn id="22" idx="1"/>
          </p:cNvCxnSpPr>
          <p:nvPr/>
        </p:nvCxnSpPr>
        <p:spPr>
          <a:xfrm flipV="1">
            <a:off x="3229645" y="438622"/>
            <a:ext cx="371544" cy="167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3D48810A-5C7F-239E-B7A7-700CEB8CE769}"/>
              </a:ext>
            </a:extLst>
          </p:cNvPr>
          <p:cNvCxnSpPr>
            <a:cxnSpLocks/>
            <a:stCxn id="41" idx="3"/>
            <a:endCxn id="23" idx="1"/>
          </p:cNvCxnSpPr>
          <p:nvPr/>
        </p:nvCxnSpPr>
        <p:spPr>
          <a:xfrm>
            <a:off x="3229645" y="606226"/>
            <a:ext cx="371544" cy="409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B60DB3FA-C7BD-1222-3727-62C84313E63E}"/>
              </a:ext>
            </a:extLst>
          </p:cNvPr>
          <p:cNvCxnSpPr>
            <a:cxnSpLocks/>
            <a:stCxn id="41" idx="3"/>
            <a:endCxn id="30" idx="1"/>
          </p:cNvCxnSpPr>
          <p:nvPr/>
        </p:nvCxnSpPr>
        <p:spPr>
          <a:xfrm>
            <a:off x="3229645" y="606226"/>
            <a:ext cx="371544" cy="2556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4D14B60F-1E49-78F5-4EF7-8CA3D4AE652D}"/>
              </a:ext>
            </a:extLst>
          </p:cNvPr>
          <p:cNvCxnSpPr>
            <a:cxnSpLocks/>
            <a:stCxn id="25" idx="3"/>
            <a:endCxn id="27" idx="1"/>
          </p:cNvCxnSpPr>
          <p:nvPr/>
        </p:nvCxnSpPr>
        <p:spPr>
          <a:xfrm>
            <a:off x="7826997" y="5495376"/>
            <a:ext cx="499407" cy="107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C1DDB579-4A3A-D458-023D-FE0A9642C444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7826997" y="5378541"/>
            <a:ext cx="499407" cy="1168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AC832A19-A6B1-D788-BDF8-3A807550E1B5}"/>
              </a:ext>
            </a:extLst>
          </p:cNvPr>
          <p:cNvCxnSpPr>
            <a:cxnSpLocks/>
            <a:stCxn id="16" idx="3"/>
            <a:endCxn id="32" idx="1"/>
          </p:cNvCxnSpPr>
          <p:nvPr/>
        </p:nvCxnSpPr>
        <p:spPr>
          <a:xfrm>
            <a:off x="5472494" y="2630823"/>
            <a:ext cx="225819" cy="4430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FB42B148-96BA-FBF0-B8C1-831531B6D04A}"/>
              </a:ext>
            </a:extLst>
          </p:cNvPr>
          <p:cNvCxnSpPr>
            <a:cxnSpLocks/>
            <a:stCxn id="10" idx="3"/>
            <a:endCxn id="16" idx="1"/>
          </p:cNvCxnSpPr>
          <p:nvPr/>
        </p:nvCxnSpPr>
        <p:spPr>
          <a:xfrm>
            <a:off x="3670373" y="1874983"/>
            <a:ext cx="192465" cy="7558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26DD805-6E2E-E787-8EBC-36B55BC2EA72}"/>
              </a:ext>
            </a:extLst>
          </p:cNvPr>
          <p:cNvCxnSpPr>
            <a:cxnSpLocks/>
            <a:stCxn id="10" idx="3"/>
            <a:endCxn id="15" idx="1"/>
          </p:cNvCxnSpPr>
          <p:nvPr/>
        </p:nvCxnSpPr>
        <p:spPr>
          <a:xfrm>
            <a:off x="3670373" y="1874983"/>
            <a:ext cx="192465" cy="5433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4C96BE72-BE43-0E35-5E09-289411513BDC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1361588" y="425107"/>
            <a:ext cx="699129" cy="14498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981BBD27-377F-88FC-B981-404C5FEA6629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1361588" y="425107"/>
            <a:ext cx="699129" cy="8965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59041243-C087-0E30-A8F4-8CD3F4EF5FF1}"/>
              </a:ext>
            </a:extLst>
          </p:cNvPr>
          <p:cNvCxnSpPr>
            <a:cxnSpLocks/>
            <a:stCxn id="4" idx="3"/>
            <a:endCxn id="41" idx="1"/>
          </p:cNvCxnSpPr>
          <p:nvPr/>
        </p:nvCxnSpPr>
        <p:spPr>
          <a:xfrm>
            <a:off x="1361588" y="425107"/>
            <a:ext cx="676944" cy="1811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D63F7B1B-AC79-6653-45E3-177A23734106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670373" y="1650728"/>
            <a:ext cx="275837" cy="220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AE0B4C21-288C-C308-09D4-18B13772C037}"/>
              </a:ext>
            </a:extLst>
          </p:cNvPr>
          <p:cNvCxnSpPr>
            <a:cxnSpLocks/>
            <a:stCxn id="10" idx="3"/>
            <a:endCxn id="14" idx="1"/>
          </p:cNvCxnSpPr>
          <p:nvPr/>
        </p:nvCxnSpPr>
        <p:spPr>
          <a:xfrm>
            <a:off x="3670373" y="1874983"/>
            <a:ext cx="275837" cy="35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: abgerundete Ecken 55">
            <a:extLst>
              <a:ext uri="{FF2B5EF4-FFF2-40B4-BE49-F238E27FC236}">
                <a16:creationId xmlns:a16="http://schemas.microsoft.com/office/drawing/2014/main" id="{E86365E6-DD92-D68D-F9F0-B8528A80EA6A}"/>
              </a:ext>
            </a:extLst>
          </p:cNvPr>
          <p:cNvSpPr/>
          <p:nvPr/>
        </p:nvSpPr>
        <p:spPr>
          <a:xfrm>
            <a:off x="5989120" y="1795223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43: rollout per device not IDU</a:t>
            </a:r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D34E728B-742D-F4D2-73B2-C717AD64E7E0}"/>
              </a:ext>
            </a:extLst>
          </p:cNvPr>
          <p:cNvCxnSpPr>
            <a:cxnSpLocks/>
            <a:stCxn id="12" idx="3"/>
            <a:endCxn id="56" idx="1"/>
          </p:cNvCxnSpPr>
          <p:nvPr/>
        </p:nvCxnSpPr>
        <p:spPr>
          <a:xfrm>
            <a:off x="5555866" y="1650728"/>
            <a:ext cx="433254" cy="2446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52F262A-2A81-B961-A338-58FABD6EE1D2}"/>
              </a:ext>
            </a:extLst>
          </p:cNvPr>
          <p:cNvCxnSpPr>
            <a:stCxn id="6" idx="3"/>
            <a:endCxn id="28" idx="1"/>
          </p:cNvCxnSpPr>
          <p:nvPr/>
        </p:nvCxnSpPr>
        <p:spPr>
          <a:xfrm>
            <a:off x="1370683" y="5393207"/>
            <a:ext cx="2647426" cy="4486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hteck: abgerundete Ecken 58">
            <a:extLst>
              <a:ext uri="{FF2B5EF4-FFF2-40B4-BE49-F238E27FC236}">
                <a16:creationId xmlns:a16="http://schemas.microsoft.com/office/drawing/2014/main" id="{DD6F3828-E42A-BF49-CBC9-481054510A72}"/>
              </a:ext>
            </a:extLst>
          </p:cNvPr>
          <p:cNvSpPr/>
          <p:nvPr/>
        </p:nvSpPr>
        <p:spPr>
          <a:xfrm>
            <a:off x="3996215" y="5009399"/>
            <a:ext cx="1756773" cy="214037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46: on demand comparison installed/target FW</a:t>
            </a:r>
          </a:p>
        </p:txBody>
      </p: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FDA6C74A-D48B-9D9B-A5F2-731BAA3B4BD4}"/>
              </a:ext>
            </a:extLst>
          </p:cNvPr>
          <p:cNvCxnSpPr>
            <a:cxnSpLocks/>
            <a:stCxn id="59" idx="3"/>
            <a:endCxn id="40" idx="1"/>
          </p:cNvCxnSpPr>
          <p:nvPr/>
        </p:nvCxnSpPr>
        <p:spPr>
          <a:xfrm>
            <a:off x="5752988" y="5116418"/>
            <a:ext cx="464353" cy="1286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133BF22-3323-3B2D-D819-85CD7E528E69}"/>
              </a:ext>
            </a:extLst>
          </p:cNvPr>
          <p:cNvCxnSpPr>
            <a:cxnSpLocks/>
            <a:stCxn id="59" idx="3"/>
            <a:endCxn id="25" idx="1"/>
          </p:cNvCxnSpPr>
          <p:nvPr/>
        </p:nvCxnSpPr>
        <p:spPr>
          <a:xfrm>
            <a:off x="5752988" y="5116418"/>
            <a:ext cx="464353" cy="3789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45A213F-C7D4-EFBD-F982-A9A39200377F}"/>
              </a:ext>
            </a:extLst>
          </p:cNvPr>
          <p:cNvCxnSpPr>
            <a:cxnSpLocks/>
            <a:stCxn id="7" idx="3"/>
            <a:endCxn id="59" idx="1"/>
          </p:cNvCxnSpPr>
          <p:nvPr/>
        </p:nvCxnSpPr>
        <p:spPr>
          <a:xfrm>
            <a:off x="1370574" y="4027551"/>
            <a:ext cx="2625641" cy="10888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6587D47A-23E8-DE6D-F47E-E88D4B70A3DC}"/>
              </a:ext>
            </a:extLst>
          </p:cNvPr>
          <p:cNvCxnSpPr>
            <a:cxnSpLocks/>
            <a:stCxn id="29" idx="3"/>
            <a:endCxn id="25" idx="1"/>
          </p:cNvCxnSpPr>
          <p:nvPr/>
        </p:nvCxnSpPr>
        <p:spPr>
          <a:xfrm>
            <a:off x="5596885" y="4854002"/>
            <a:ext cx="620456" cy="6413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EABC39B1-3BD0-04DD-CA82-5E7607AA7100}"/>
              </a:ext>
            </a:extLst>
          </p:cNvPr>
          <p:cNvCxnSpPr>
            <a:cxnSpLocks/>
            <a:stCxn id="29" idx="3"/>
            <a:endCxn id="40" idx="1"/>
          </p:cNvCxnSpPr>
          <p:nvPr/>
        </p:nvCxnSpPr>
        <p:spPr>
          <a:xfrm>
            <a:off x="5596885" y="4854002"/>
            <a:ext cx="620456" cy="3910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A7864AB3-4596-A6DC-4420-074B1D1F31B4}"/>
              </a:ext>
            </a:extLst>
          </p:cNvPr>
          <p:cNvCxnSpPr>
            <a:cxnSpLocks/>
            <a:stCxn id="7" idx="3"/>
            <a:endCxn id="29" idx="1"/>
          </p:cNvCxnSpPr>
          <p:nvPr/>
        </p:nvCxnSpPr>
        <p:spPr>
          <a:xfrm>
            <a:off x="1370574" y="4027551"/>
            <a:ext cx="2616655" cy="826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92350C64-06C7-B309-EE5F-4FFCC928E012}"/>
              </a:ext>
            </a:extLst>
          </p:cNvPr>
          <p:cNvCxnSpPr>
            <a:cxnSpLocks/>
            <a:stCxn id="5" idx="3"/>
            <a:endCxn id="59" idx="1"/>
          </p:cNvCxnSpPr>
          <p:nvPr/>
        </p:nvCxnSpPr>
        <p:spPr>
          <a:xfrm>
            <a:off x="1392759" y="4609341"/>
            <a:ext cx="2603456" cy="5070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360A7929-8643-5C72-C380-CCD568812637}"/>
              </a:ext>
            </a:extLst>
          </p:cNvPr>
          <p:cNvCxnSpPr>
            <a:cxnSpLocks/>
            <a:stCxn id="5" idx="3"/>
            <a:endCxn id="28" idx="1"/>
          </p:cNvCxnSpPr>
          <p:nvPr/>
        </p:nvCxnSpPr>
        <p:spPr>
          <a:xfrm>
            <a:off x="1392759" y="4609341"/>
            <a:ext cx="2625350" cy="12325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21251088-9F99-F924-9FA8-0624558A6A71}"/>
              </a:ext>
            </a:extLst>
          </p:cNvPr>
          <p:cNvCxnSpPr>
            <a:cxnSpLocks/>
            <a:stCxn id="10" idx="2"/>
            <a:endCxn id="9" idx="0"/>
          </p:cNvCxnSpPr>
          <p:nvPr/>
        </p:nvCxnSpPr>
        <p:spPr>
          <a:xfrm flipH="1">
            <a:off x="2618034" y="1975100"/>
            <a:ext cx="247511" cy="1819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hteck: abgerundete Ecken 82">
            <a:extLst>
              <a:ext uri="{FF2B5EF4-FFF2-40B4-BE49-F238E27FC236}">
                <a16:creationId xmlns:a16="http://schemas.microsoft.com/office/drawing/2014/main" id="{937213DF-F6E1-8866-87B0-46724103D64A}"/>
              </a:ext>
            </a:extLst>
          </p:cNvPr>
          <p:cNvSpPr/>
          <p:nvPr/>
        </p:nvSpPr>
        <p:spPr>
          <a:xfrm>
            <a:off x="3926560" y="1211983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48: Exec in MDOI / not MDOI</a:t>
            </a:r>
          </a:p>
        </p:txBody>
      </p: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4D3B7ECA-1237-423E-5DCC-3FB53062AE88}"/>
              </a:ext>
            </a:extLst>
          </p:cNvPr>
          <p:cNvCxnSpPr>
            <a:cxnSpLocks/>
            <a:stCxn id="11" idx="3"/>
            <a:endCxn id="83" idx="1"/>
          </p:cNvCxnSpPr>
          <p:nvPr/>
        </p:nvCxnSpPr>
        <p:spPr>
          <a:xfrm flipV="1">
            <a:off x="3670373" y="1312100"/>
            <a:ext cx="256187" cy="95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Ellipse 100">
            <a:extLst>
              <a:ext uri="{FF2B5EF4-FFF2-40B4-BE49-F238E27FC236}">
                <a16:creationId xmlns:a16="http://schemas.microsoft.com/office/drawing/2014/main" id="{A3022E63-7E67-AFB9-8FF6-A5912E53CFB2}"/>
              </a:ext>
            </a:extLst>
          </p:cNvPr>
          <p:cNvSpPr/>
          <p:nvPr/>
        </p:nvSpPr>
        <p:spPr>
          <a:xfrm>
            <a:off x="10272584" y="317367"/>
            <a:ext cx="140043" cy="121255"/>
          </a:xfrm>
          <a:prstGeom prst="ellipse">
            <a:avLst/>
          </a:prstGeom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9CD34598-13CA-F6BD-537C-DD8D84BB34D6}"/>
              </a:ext>
            </a:extLst>
          </p:cNvPr>
          <p:cNvSpPr txBox="1"/>
          <p:nvPr/>
        </p:nvSpPr>
        <p:spPr>
          <a:xfrm>
            <a:off x="10406257" y="246175"/>
            <a:ext cx="8483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/>
              <a:t>Quality req</a:t>
            </a:r>
          </a:p>
        </p:txBody>
      </p:sp>
      <p:sp>
        <p:nvSpPr>
          <p:cNvPr id="103" name="Ellipse 102">
            <a:extLst>
              <a:ext uri="{FF2B5EF4-FFF2-40B4-BE49-F238E27FC236}">
                <a16:creationId xmlns:a16="http://schemas.microsoft.com/office/drawing/2014/main" id="{9AE78D61-F962-8D79-8194-0D8209A0D0C2}"/>
              </a:ext>
            </a:extLst>
          </p:cNvPr>
          <p:cNvSpPr/>
          <p:nvPr/>
        </p:nvSpPr>
        <p:spPr>
          <a:xfrm>
            <a:off x="3856538" y="1242653"/>
            <a:ext cx="140043" cy="121255"/>
          </a:xfrm>
          <a:prstGeom prst="ellipse">
            <a:avLst/>
          </a:prstGeom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4" name="Ellipse 103">
            <a:extLst>
              <a:ext uri="{FF2B5EF4-FFF2-40B4-BE49-F238E27FC236}">
                <a16:creationId xmlns:a16="http://schemas.microsoft.com/office/drawing/2014/main" id="{3D713438-C466-5DA2-555E-895A1ECEF0F9}"/>
              </a:ext>
            </a:extLst>
          </p:cNvPr>
          <p:cNvSpPr/>
          <p:nvPr/>
        </p:nvSpPr>
        <p:spPr>
          <a:xfrm>
            <a:off x="2038532" y="2187344"/>
            <a:ext cx="140043" cy="121255"/>
          </a:xfrm>
          <a:prstGeom prst="ellipse">
            <a:avLst/>
          </a:prstGeom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5" name="Ellipse 104">
            <a:extLst>
              <a:ext uri="{FF2B5EF4-FFF2-40B4-BE49-F238E27FC236}">
                <a16:creationId xmlns:a16="http://schemas.microsoft.com/office/drawing/2014/main" id="{E6879EB7-3CD3-4063-A023-6EC19C79B829}"/>
              </a:ext>
            </a:extLst>
          </p:cNvPr>
          <p:cNvSpPr/>
          <p:nvPr/>
        </p:nvSpPr>
        <p:spPr>
          <a:xfrm>
            <a:off x="9649453" y="2902705"/>
            <a:ext cx="140043" cy="121255"/>
          </a:xfrm>
          <a:prstGeom prst="ellipse">
            <a:avLst/>
          </a:prstGeom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" name="Ellipse 105">
            <a:extLst>
              <a:ext uri="{FF2B5EF4-FFF2-40B4-BE49-F238E27FC236}">
                <a16:creationId xmlns:a16="http://schemas.microsoft.com/office/drawing/2014/main" id="{C8FE0C8D-EEB2-BE03-C2E6-4B0EBF558F90}"/>
              </a:ext>
            </a:extLst>
          </p:cNvPr>
          <p:cNvSpPr/>
          <p:nvPr/>
        </p:nvSpPr>
        <p:spPr>
          <a:xfrm>
            <a:off x="10268644" y="525953"/>
            <a:ext cx="140043" cy="121255"/>
          </a:xfrm>
          <a:prstGeom prst="ellipse">
            <a:avLst/>
          </a:prstGeom>
          <a:solidFill>
            <a:srgbClr val="FF0000"/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Textfeld 106">
            <a:extLst>
              <a:ext uri="{FF2B5EF4-FFF2-40B4-BE49-F238E27FC236}">
                <a16:creationId xmlns:a16="http://schemas.microsoft.com/office/drawing/2014/main" id="{37CCE1D5-DA68-C364-2837-3E929EAFE79F}"/>
              </a:ext>
            </a:extLst>
          </p:cNvPr>
          <p:cNvSpPr txBox="1"/>
          <p:nvPr/>
        </p:nvSpPr>
        <p:spPr>
          <a:xfrm>
            <a:off x="10406257" y="468362"/>
            <a:ext cx="10438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/>
              <a:t>Business Rule</a:t>
            </a:r>
          </a:p>
        </p:txBody>
      </p:sp>
      <p:sp>
        <p:nvSpPr>
          <p:cNvPr id="108" name="Ellipse 107">
            <a:extLst>
              <a:ext uri="{FF2B5EF4-FFF2-40B4-BE49-F238E27FC236}">
                <a16:creationId xmlns:a16="http://schemas.microsoft.com/office/drawing/2014/main" id="{08D0C39A-F025-5BC3-A14B-E3F65181FF08}"/>
              </a:ext>
            </a:extLst>
          </p:cNvPr>
          <p:cNvSpPr/>
          <p:nvPr/>
        </p:nvSpPr>
        <p:spPr>
          <a:xfrm>
            <a:off x="5919098" y="1810722"/>
            <a:ext cx="140043" cy="121255"/>
          </a:xfrm>
          <a:prstGeom prst="ellipse">
            <a:avLst/>
          </a:prstGeom>
          <a:solidFill>
            <a:srgbClr val="FF0000"/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1" name="Ellipse 110">
            <a:extLst>
              <a:ext uri="{FF2B5EF4-FFF2-40B4-BE49-F238E27FC236}">
                <a16:creationId xmlns:a16="http://schemas.microsoft.com/office/drawing/2014/main" id="{7B52EDCB-B915-C1C7-2AEB-DC131AEBAF6B}"/>
              </a:ext>
            </a:extLst>
          </p:cNvPr>
          <p:cNvSpPr/>
          <p:nvPr/>
        </p:nvSpPr>
        <p:spPr>
          <a:xfrm>
            <a:off x="228126" y="6096104"/>
            <a:ext cx="140043" cy="121255"/>
          </a:xfrm>
          <a:prstGeom prst="ellipse">
            <a:avLst/>
          </a:prstGeom>
          <a:solidFill>
            <a:srgbClr val="FF0000"/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2" name="Ellipse 111">
            <a:extLst>
              <a:ext uri="{FF2B5EF4-FFF2-40B4-BE49-F238E27FC236}">
                <a16:creationId xmlns:a16="http://schemas.microsoft.com/office/drawing/2014/main" id="{CF489BB8-A72D-A92B-5C27-4037F56D58D2}"/>
              </a:ext>
            </a:extLst>
          </p:cNvPr>
          <p:cNvSpPr/>
          <p:nvPr/>
        </p:nvSpPr>
        <p:spPr>
          <a:xfrm>
            <a:off x="5906156" y="1576938"/>
            <a:ext cx="140043" cy="121255"/>
          </a:xfrm>
          <a:prstGeom prst="ellipse">
            <a:avLst/>
          </a:prstGeom>
          <a:solidFill>
            <a:srgbClr val="FF0000"/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3" name="Ellipse 112">
            <a:extLst>
              <a:ext uri="{FF2B5EF4-FFF2-40B4-BE49-F238E27FC236}">
                <a16:creationId xmlns:a16="http://schemas.microsoft.com/office/drawing/2014/main" id="{1C937982-EDBA-43F3-74AC-847FFE897036}"/>
              </a:ext>
            </a:extLst>
          </p:cNvPr>
          <p:cNvSpPr/>
          <p:nvPr/>
        </p:nvSpPr>
        <p:spPr>
          <a:xfrm>
            <a:off x="10278169" y="765396"/>
            <a:ext cx="140043" cy="121255"/>
          </a:xfrm>
          <a:prstGeom prst="ellipse">
            <a:avLst/>
          </a:prstGeom>
          <a:solidFill>
            <a:srgbClr val="0070C0"/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feld 113">
            <a:extLst>
              <a:ext uri="{FF2B5EF4-FFF2-40B4-BE49-F238E27FC236}">
                <a16:creationId xmlns:a16="http://schemas.microsoft.com/office/drawing/2014/main" id="{2923A1D1-5C52-3F40-230C-D363EEB4449B}"/>
              </a:ext>
            </a:extLst>
          </p:cNvPr>
          <p:cNvSpPr txBox="1"/>
          <p:nvPr/>
        </p:nvSpPr>
        <p:spPr>
          <a:xfrm>
            <a:off x="10415782" y="695589"/>
            <a:ext cx="8082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/>
              <a:t>constraint</a:t>
            </a:r>
          </a:p>
        </p:txBody>
      </p:sp>
      <p:sp>
        <p:nvSpPr>
          <p:cNvPr id="115" name="Ellipse 114">
            <a:extLst>
              <a:ext uri="{FF2B5EF4-FFF2-40B4-BE49-F238E27FC236}">
                <a16:creationId xmlns:a16="http://schemas.microsoft.com/office/drawing/2014/main" id="{A3CCAFF0-F4EF-E8F5-C2C5-94EE2828C517}"/>
              </a:ext>
            </a:extLst>
          </p:cNvPr>
          <p:cNvSpPr/>
          <p:nvPr/>
        </p:nvSpPr>
        <p:spPr>
          <a:xfrm>
            <a:off x="228126" y="5833130"/>
            <a:ext cx="140043" cy="121255"/>
          </a:xfrm>
          <a:prstGeom prst="ellipse">
            <a:avLst/>
          </a:prstGeom>
          <a:solidFill>
            <a:srgbClr val="0070C0"/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6" name="Ellipse 115">
            <a:extLst>
              <a:ext uri="{FF2B5EF4-FFF2-40B4-BE49-F238E27FC236}">
                <a16:creationId xmlns:a16="http://schemas.microsoft.com/office/drawing/2014/main" id="{D8EBA6EF-4569-1862-C0F8-2E5079AA7CC0}"/>
              </a:ext>
            </a:extLst>
          </p:cNvPr>
          <p:cNvSpPr/>
          <p:nvPr/>
        </p:nvSpPr>
        <p:spPr>
          <a:xfrm>
            <a:off x="10278169" y="962026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7" name="Textfeld 116">
            <a:extLst>
              <a:ext uri="{FF2B5EF4-FFF2-40B4-BE49-F238E27FC236}">
                <a16:creationId xmlns:a16="http://schemas.microsoft.com/office/drawing/2014/main" id="{B90D9BF2-C828-0E6C-0ECE-08B8469DC5A1}"/>
              </a:ext>
            </a:extLst>
          </p:cNvPr>
          <p:cNvSpPr txBox="1"/>
          <p:nvPr/>
        </p:nvSpPr>
        <p:spPr>
          <a:xfrm>
            <a:off x="10397719" y="895085"/>
            <a:ext cx="10647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/>
              <a:t>Functional req</a:t>
            </a:r>
          </a:p>
        </p:txBody>
      </p:sp>
      <p:sp>
        <p:nvSpPr>
          <p:cNvPr id="118" name="Ellipse 117">
            <a:extLst>
              <a:ext uri="{FF2B5EF4-FFF2-40B4-BE49-F238E27FC236}">
                <a16:creationId xmlns:a16="http://schemas.microsoft.com/office/drawing/2014/main" id="{403E30D1-793D-1A20-4D10-1C01AA482966}"/>
              </a:ext>
            </a:extLst>
          </p:cNvPr>
          <p:cNvSpPr/>
          <p:nvPr/>
        </p:nvSpPr>
        <p:spPr>
          <a:xfrm>
            <a:off x="6127172" y="5174689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9" name="Ellipse 118">
            <a:extLst>
              <a:ext uri="{FF2B5EF4-FFF2-40B4-BE49-F238E27FC236}">
                <a16:creationId xmlns:a16="http://schemas.microsoft.com/office/drawing/2014/main" id="{26AB99A4-BD61-3B2C-2F6A-FA77C0D2B4FD}"/>
              </a:ext>
            </a:extLst>
          </p:cNvPr>
          <p:cNvSpPr/>
          <p:nvPr/>
        </p:nvSpPr>
        <p:spPr>
          <a:xfrm>
            <a:off x="5619305" y="2978912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0" name="Ellipse 119">
            <a:extLst>
              <a:ext uri="{FF2B5EF4-FFF2-40B4-BE49-F238E27FC236}">
                <a16:creationId xmlns:a16="http://schemas.microsoft.com/office/drawing/2014/main" id="{B0A3D7F3-A6E3-25AA-EE2F-2F2DA3DCBF6E}"/>
              </a:ext>
            </a:extLst>
          </p:cNvPr>
          <p:cNvSpPr/>
          <p:nvPr/>
        </p:nvSpPr>
        <p:spPr>
          <a:xfrm>
            <a:off x="8234543" y="5505328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5CC26781-7DD3-AEC0-33FB-C54163CABD86}"/>
              </a:ext>
            </a:extLst>
          </p:cNvPr>
          <p:cNvSpPr/>
          <p:nvPr/>
        </p:nvSpPr>
        <p:spPr>
          <a:xfrm>
            <a:off x="8221328" y="5327445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2BC82095-265E-1A83-30F8-76D9FB704A85}"/>
              </a:ext>
            </a:extLst>
          </p:cNvPr>
          <p:cNvSpPr/>
          <p:nvPr/>
        </p:nvSpPr>
        <p:spPr>
          <a:xfrm>
            <a:off x="9640745" y="3093599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3D3D5761-1739-EF4F-8EBE-7E176AA91FB6}"/>
              </a:ext>
            </a:extLst>
          </p:cNvPr>
          <p:cNvSpPr/>
          <p:nvPr/>
        </p:nvSpPr>
        <p:spPr>
          <a:xfrm>
            <a:off x="7625532" y="3265365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4" name="Ellipse 123">
            <a:extLst>
              <a:ext uri="{FF2B5EF4-FFF2-40B4-BE49-F238E27FC236}">
                <a16:creationId xmlns:a16="http://schemas.microsoft.com/office/drawing/2014/main" id="{47B03F33-8013-929C-9772-74EC47041627}"/>
              </a:ext>
            </a:extLst>
          </p:cNvPr>
          <p:cNvSpPr/>
          <p:nvPr/>
        </p:nvSpPr>
        <p:spPr>
          <a:xfrm>
            <a:off x="3888041" y="4784411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167F58FB-C0B7-F5BF-917F-634F909BF452}"/>
              </a:ext>
            </a:extLst>
          </p:cNvPr>
          <p:cNvSpPr/>
          <p:nvPr/>
        </p:nvSpPr>
        <p:spPr>
          <a:xfrm>
            <a:off x="3926193" y="5766105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8" name="Ellipse 127">
            <a:extLst>
              <a:ext uri="{FF2B5EF4-FFF2-40B4-BE49-F238E27FC236}">
                <a16:creationId xmlns:a16="http://schemas.microsoft.com/office/drawing/2014/main" id="{63A3326C-BAB7-BDAD-80B7-AD10BFABB80B}"/>
              </a:ext>
            </a:extLst>
          </p:cNvPr>
          <p:cNvSpPr/>
          <p:nvPr/>
        </p:nvSpPr>
        <p:spPr>
          <a:xfrm>
            <a:off x="3490460" y="771346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9" name="Ellipse 128">
            <a:extLst>
              <a:ext uri="{FF2B5EF4-FFF2-40B4-BE49-F238E27FC236}">
                <a16:creationId xmlns:a16="http://schemas.microsoft.com/office/drawing/2014/main" id="{CB4ED36A-C697-D892-BE65-6751144D46D5}"/>
              </a:ext>
            </a:extLst>
          </p:cNvPr>
          <p:cNvSpPr/>
          <p:nvPr/>
        </p:nvSpPr>
        <p:spPr>
          <a:xfrm>
            <a:off x="3530330" y="183731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0" name="Ellipse 129">
            <a:extLst>
              <a:ext uri="{FF2B5EF4-FFF2-40B4-BE49-F238E27FC236}">
                <a16:creationId xmlns:a16="http://schemas.microsoft.com/office/drawing/2014/main" id="{80121F0D-D1E7-72E3-802E-F61E7139A43B}"/>
              </a:ext>
            </a:extLst>
          </p:cNvPr>
          <p:cNvSpPr/>
          <p:nvPr/>
        </p:nvSpPr>
        <p:spPr>
          <a:xfrm>
            <a:off x="3530330" y="374109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1" name="Ellipse 130">
            <a:extLst>
              <a:ext uri="{FF2B5EF4-FFF2-40B4-BE49-F238E27FC236}">
                <a16:creationId xmlns:a16="http://schemas.microsoft.com/office/drawing/2014/main" id="{FE0045C5-6516-3705-5C02-FD681B83CFB9}"/>
              </a:ext>
            </a:extLst>
          </p:cNvPr>
          <p:cNvSpPr/>
          <p:nvPr/>
        </p:nvSpPr>
        <p:spPr>
          <a:xfrm>
            <a:off x="3530330" y="591482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2" name="Ellipse 131">
            <a:extLst>
              <a:ext uri="{FF2B5EF4-FFF2-40B4-BE49-F238E27FC236}">
                <a16:creationId xmlns:a16="http://schemas.microsoft.com/office/drawing/2014/main" id="{A5E0DBBF-F814-517E-948E-9FEC1BDCC7D1}"/>
              </a:ext>
            </a:extLst>
          </p:cNvPr>
          <p:cNvSpPr/>
          <p:nvPr/>
        </p:nvSpPr>
        <p:spPr>
          <a:xfrm>
            <a:off x="3862838" y="1563500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3" name="Ellipse 132">
            <a:extLst>
              <a:ext uri="{FF2B5EF4-FFF2-40B4-BE49-F238E27FC236}">
                <a16:creationId xmlns:a16="http://schemas.microsoft.com/office/drawing/2014/main" id="{47B7C997-D070-14BF-F463-5D2FF7DE4AB3}"/>
              </a:ext>
            </a:extLst>
          </p:cNvPr>
          <p:cNvSpPr/>
          <p:nvPr/>
        </p:nvSpPr>
        <p:spPr>
          <a:xfrm>
            <a:off x="3862838" y="1849959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4" name="Ellipse 133">
            <a:extLst>
              <a:ext uri="{FF2B5EF4-FFF2-40B4-BE49-F238E27FC236}">
                <a16:creationId xmlns:a16="http://schemas.microsoft.com/office/drawing/2014/main" id="{DDCAE817-8F53-32F9-2C2E-227ED2AD6678}"/>
              </a:ext>
            </a:extLst>
          </p:cNvPr>
          <p:cNvSpPr/>
          <p:nvPr/>
        </p:nvSpPr>
        <p:spPr>
          <a:xfrm>
            <a:off x="3772535" y="2336186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5" name="Ellipse 134">
            <a:extLst>
              <a:ext uri="{FF2B5EF4-FFF2-40B4-BE49-F238E27FC236}">
                <a16:creationId xmlns:a16="http://schemas.microsoft.com/office/drawing/2014/main" id="{DDC15C4C-0E80-C842-6B1F-7E109BD79E17}"/>
              </a:ext>
            </a:extLst>
          </p:cNvPr>
          <p:cNvSpPr/>
          <p:nvPr/>
        </p:nvSpPr>
        <p:spPr>
          <a:xfrm>
            <a:off x="3798466" y="2591331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6" name="Ellipse 135">
            <a:extLst>
              <a:ext uri="{FF2B5EF4-FFF2-40B4-BE49-F238E27FC236}">
                <a16:creationId xmlns:a16="http://schemas.microsoft.com/office/drawing/2014/main" id="{4EB83DB7-8313-FC73-35E4-B19F8A49B528}"/>
              </a:ext>
            </a:extLst>
          </p:cNvPr>
          <p:cNvSpPr/>
          <p:nvPr/>
        </p:nvSpPr>
        <p:spPr>
          <a:xfrm>
            <a:off x="5603959" y="2355484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7" name="Ellipse 136">
            <a:extLst>
              <a:ext uri="{FF2B5EF4-FFF2-40B4-BE49-F238E27FC236}">
                <a16:creationId xmlns:a16="http://schemas.microsoft.com/office/drawing/2014/main" id="{2ECAA9ED-F4C5-2C56-13E7-2861490BABBE}"/>
              </a:ext>
            </a:extLst>
          </p:cNvPr>
          <p:cNvSpPr/>
          <p:nvPr/>
        </p:nvSpPr>
        <p:spPr>
          <a:xfrm>
            <a:off x="7611025" y="2982656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9" name="Ellipse 138">
            <a:extLst>
              <a:ext uri="{FF2B5EF4-FFF2-40B4-BE49-F238E27FC236}">
                <a16:creationId xmlns:a16="http://schemas.microsoft.com/office/drawing/2014/main" id="{437578FD-66D9-12BB-71F4-AE5B050E7BE5}"/>
              </a:ext>
            </a:extLst>
          </p:cNvPr>
          <p:cNvSpPr/>
          <p:nvPr/>
        </p:nvSpPr>
        <p:spPr>
          <a:xfrm>
            <a:off x="1968510" y="1258294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0" name="Ellipse 139">
            <a:extLst>
              <a:ext uri="{FF2B5EF4-FFF2-40B4-BE49-F238E27FC236}">
                <a16:creationId xmlns:a16="http://schemas.microsoft.com/office/drawing/2014/main" id="{588E143D-0E63-69A5-D05A-FBC84DFCA859}"/>
              </a:ext>
            </a:extLst>
          </p:cNvPr>
          <p:cNvSpPr/>
          <p:nvPr/>
        </p:nvSpPr>
        <p:spPr>
          <a:xfrm>
            <a:off x="6139147" y="5432689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2" name="Rechteck: abgerundete Ecken 71">
            <a:extLst>
              <a:ext uri="{FF2B5EF4-FFF2-40B4-BE49-F238E27FC236}">
                <a16:creationId xmlns:a16="http://schemas.microsoft.com/office/drawing/2014/main" id="{D5B64190-D7AC-43F2-8E28-8E5140109655}"/>
              </a:ext>
            </a:extLst>
          </p:cNvPr>
          <p:cNvSpPr/>
          <p:nvPr/>
        </p:nvSpPr>
        <p:spPr>
          <a:xfrm>
            <a:off x="101497" y="1327044"/>
            <a:ext cx="1609656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2: Job Manager Transactions</a:t>
            </a:r>
          </a:p>
        </p:txBody>
      </p:sp>
      <p:sp>
        <p:nvSpPr>
          <p:cNvPr id="75" name="Rechteck: abgerundete Ecken 74">
            <a:extLst>
              <a:ext uri="{FF2B5EF4-FFF2-40B4-BE49-F238E27FC236}">
                <a16:creationId xmlns:a16="http://schemas.microsoft.com/office/drawing/2014/main" id="{2B787AA3-F092-3CC1-2F85-88093596EB11}"/>
              </a:ext>
            </a:extLst>
          </p:cNvPr>
          <p:cNvSpPr/>
          <p:nvPr/>
        </p:nvSpPr>
        <p:spPr>
          <a:xfrm>
            <a:off x="5531901" y="874304"/>
            <a:ext cx="844184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3: Logging</a:t>
            </a:r>
          </a:p>
        </p:txBody>
      </p:sp>
      <p:sp>
        <p:nvSpPr>
          <p:cNvPr id="76" name="Rechteck: abgerundete Ecken 75">
            <a:extLst>
              <a:ext uri="{FF2B5EF4-FFF2-40B4-BE49-F238E27FC236}">
                <a16:creationId xmlns:a16="http://schemas.microsoft.com/office/drawing/2014/main" id="{B17133EA-992A-15C3-1B5F-9DBE16B83C2F}"/>
              </a:ext>
            </a:extLst>
          </p:cNvPr>
          <p:cNvSpPr/>
          <p:nvPr/>
        </p:nvSpPr>
        <p:spPr>
          <a:xfrm>
            <a:off x="2376597" y="2565499"/>
            <a:ext cx="958484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4: Schedulers</a:t>
            </a:r>
          </a:p>
        </p:txBody>
      </p: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AABD8DAF-FFCA-0824-BAEC-B856360C4A7F}"/>
              </a:ext>
            </a:extLst>
          </p:cNvPr>
          <p:cNvSpPr/>
          <p:nvPr/>
        </p:nvSpPr>
        <p:spPr>
          <a:xfrm>
            <a:off x="101496" y="1543866"/>
            <a:ext cx="1609656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5: Job Duplicate Entry check</a:t>
            </a:r>
          </a:p>
        </p:txBody>
      </p:sp>
      <p:sp>
        <p:nvSpPr>
          <p:cNvPr id="78" name="Rechteck: abgerundete Ecken 77">
            <a:extLst>
              <a:ext uri="{FF2B5EF4-FFF2-40B4-BE49-F238E27FC236}">
                <a16:creationId xmlns:a16="http://schemas.microsoft.com/office/drawing/2014/main" id="{BCC4938C-A04C-0C22-788F-8D67AC66E227}"/>
              </a:ext>
            </a:extLst>
          </p:cNvPr>
          <p:cNvSpPr/>
          <p:nvPr/>
        </p:nvSpPr>
        <p:spPr>
          <a:xfrm>
            <a:off x="101496" y="1750845"/>
            <a:ext cx="1609656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6: Job Manager</a:t>
            </a:r>
          </a:p>
        </p:txBody>
      </p:sp>
      <p:sp>
        <p:nvSpPr>
          <p:cNvPr id="79" name="Rechteck: abgerundete Ecken 78">
            <a:extLst>
              <a:ext uri="{FF2B5EF4-FFF2-40B4-BE49-F238E27FC236}">
                <a16:creationId xmlns:a16="http://schemas.microsoft.com/office/drawing/2014/main" id="{D06778C4-E0D4-E934-80F6-E5A178486F9E}"/>
              </a:ext>
            </a:extLst>
          </p:cNvPr>
          <p:cNvSpPr/>
          <p:nvPr/>
        </p:nvSpPr>
        <p:spPr>
          <a:xfrm>
            <a:off x="101497" y="1957650"/>
            <a:ext cx="1609656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7: Parsing FileUpload Content</a:t>
            </a:r>
          </a:p>
        </p:txBody>
      </p:sp>
      <p:sp>
        <p:nvSpPr>
          <p:cNvPr id="80" name="Rechteck: abgerundete Ecken 79">
            <a:extLst>
              <a:ext uri="{FF2B5EF4-FFF2-40B4-BE49-F238E27FC236}">
                <a16:creationId xmlns:a16="http://schemas.microsoft.com/office/drawing/2014/main" id="{F4542AFC-8C0C-A228-8FD3-9D0D3A969DA0}"/>
              </a:ext>
            </a:extLst>
          </p:cNvPr>
          <p:cNvSpPr/>
          <p:nvPr/>
        </p:nvSpPr>
        <p:spPr>
          <a:xfrm>
            <a:off x="101497" y="2167879"/>
            <a:ext cx="1609656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8: Process PostReq from UI</a:t>
            </a:r>
          </a:p>
        </p:txBody>
      </p:sp>
      <p:sp>
        <p:nvSpPr>
          <p:cNvPr id="81" name="Rechteck: abgerundete Ecken 80">
            <a:extLst>
              <a:ext uri="{FF2B5EF4-FFF2-40B4-BE49-F238E27FC236}">
                <a16:creationId xmlns:a16="http://schemas.microsoft.com/office/drawing/2014/main" id="{59CD5B6D-E337-A45E-39EC-ABA04B7675BD}"/>
              </a:ext>
            </a:extLst>
          </p:cNvPr>
          <p:cNvSpPr/>
          <p:nvPr/>
        </p:nvSpPr>
        <p:spPr>
          <a:xfrm>
            <a:off x="5536216" y="127921"/>
            <a:ext cx="1609656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9: FileManager Interface</a:t>
            </a:r>
          </a:p>
        </p:txBody>
      </p:sp>
      <p:sp>
        <p:nvSpPr>
          <p:cNvPr id="82" name="Rechteck: abgerundete Ecken 81">
            <a:extLst>
              <a:ext uri="{FF2B5EF4-FFF2-40B4-BE49-F238E27FC236}">
                <a16:creationId xmlns:a16="http://schemas.microsoft.com/office/drawing/2014/main" id="{265E07D5-94B9-9CBE-42A8-113ADDAF2BED}"/>
              </a:ext>
            </a:extLst>
          </p:cNvPr>
          <p:cNvSpPr/>
          <p:nvPr/>
        </p:nvSpPr>
        <p:spPr>
          <a:xfrm>
            <a:off x="5532303" y="339401"/>
            <a:ext cx="1609656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10: Software Repository</a:t>
            </a:r>
          </a:p>
        </p:txBody>
      </p:sp>
      <p:sp>
        <p:nvSpPr>
          <p:cNvPr id="85" name="Rechteck: abgerundete Ecken 84">
            <a:extLst>
              <a:ext uri="{FF2B5EF4-FFF2-40B4-BE49-F238E27FC236}">
                <a16:creationId xmlns:a16="http://schemas.microsoft.com/office/drawing/2014/main" id="{3E09EEE0-324D-6F8A-073D-8995F0939B43}"/>
              </a:ext>
            </a:extLst>
          </p:cNvPr>
          <p:cNvSpPr/>
          <p:nvPr/>
        </p:nvSpPr>
        <p:spPr>
          <a:xfrm>
            <a:off x="5528422" y="547091"/>
            <a:ext cx="1882067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11: Software Repository Maintenance</a:t>
            </a:r>
          </a:p>
        </p:txBody>
      </p: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8D4FBCBC-9528-AFBD-D760-1570AA78D003}"/>
              </a:ext>
            </a:extLst>
          </p:cNvPr>
          <p:cNvCxnSpPr>
            <a:stCxn id="22" idx="3"/>
            <a:endCxn id="81" idx="1"/>
          </p:cNvCxnSpPr>
          <p:nvPr/>
        </p:nvCxnSpPr>
        <p:spPr>
          <a:xfrm flipV="1">
            <a:off x="5210845" y="222644"/>
            <a:ext cx="325371" cy="215978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Gerader Verbinder 87">
            <a:extLst>
              <a:ext uri="{FF2B5EF4-FFF2-40B4-BE49-F238E27FC236}">
                <a16:creationId xmlns:a16="http://schemas.microsoft.com/office/drawing/2014/main" id="{7FCDE2B5-2C00-9F1E-2AB0-587511D6ADB4}"/>
              </a:ext>
            </a:extLst>
          </p:cNvPr>
          <p:cNvCxnSpPr>
            <a:cxnSpLocks/>
            <a:stCxn id="22" idx="3"/>
            <a:endCxn id="82" idx="1"/>
          </p:cNvCxnSpPr>
          <p:nvPr/>
        </p:nvCxnSpPr>
        <p:spPr>
          <a:xfrm flipV="1">
            <a:off x="5210845" y="434124"/>
            <a:ext cx="321458" cy="4498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B3D45DD6-35AB-1EF3-C5BE-08604E3248CE}"/>
              </a:ext>
            </a:extLst>
          </p:cNvPr>
          <p:cNvCxnSpPr>
            <a:cxnSpLocks/>
            <a:stCxn id="22" idx="3"/>
            <a:endCxn id="85" idx="1"/>
          </p:cNvCxnSpPr>
          <p:nvPr/>
        </p:nvCxnSpPr>
        <p:spPr>
          <a:xfrm>
            <a:off x="5210845" y="438622"/>
            <a:ext cx="317577" cy="203192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60D7902C-EE7A-6517-D0C1-61F0DC0E1D84}"/>
              </a:ext>
            </a:extLst>
          </p:cNvPr>
          <p:cNvCxnSpPr>
            <a:cxnSpLocks/>
            <a:stCxn id="80" idx="3"/>
            <a:endCxn id="10" idx="1"/>
          </p:cNvCxnSpPr>
          <p:nvPr/>
        </p:nvCxnSpPr>
        <p:spPr>
          <a:xfrm flipV="1">
            <a:off x="1711153" y="1874983"/>
            <a:ext cx="349564" cy="387619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97DC6D89-C837-A206-0A96-E555B17C4F4C}"/>
              </a:ext>
            </a:extLst>
          </p:cNvPr>
          <p:cNvCxnSpPr>
            <a:cxnSpLocks/>
            <a:stCxn id="79" idx="3"/>
            <a:endCxn id="10" idx="1"/>
          </p:cNvCxnSpPr>
          <p:nvPr/>
        </p:nvCxnSpPr>
        <p:spPr>
          <a:xfrm flipV="1">
            <a:off x="1711153" y="1874983"/>
            <a:ext cx="349564" cy="17739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Gerader Verbinder 143">
            <a:extLst>
              <a:ext uri="{FF2B5EF4-FFF2-40B4-BE49-F238E27FC236}">
                <a16:creationId xmlns:a16="http://schemas.microsoft.com/office/drawing/2014/main" id="{D07BAD44-556C-C4DC-C776-EA4AE76DB10F}"/>
              </a:ext>
            </a:extLst>
          </p:cNvPr>
          <p:cNvCxnSpPr>
            <a:cxnSpLocks/>
            <a:stCxn id="78" idx="3"/>
            <a:endCxn id="10" idx="1"/>
          </p:cNvCxnSpPr>
          <p:nvPr/>
        </p:nvCxnSpPr>
        <p:spPr>
          <a:xfrm>
            <a:off x="1711152" y="1845568"/>
            <a:ext cx="349565" cy="29415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C9E53D9B-FBD0-8AAF-C926-CA6C78B93308}"/>
              </a:ext>
            </a:extLst>
          </p:cNvPr>
          <p:cNvCxnSpPr>
            <a:cxnSpLocks/>
            <a:stCxn id="77" idx="3"/>
            <a:endCxn id="10" idx="1"/>
          </p:cNvCxnSpPr>
          <p:nvPr/>
        </p:nvCxnSpPr>
        <p:spPr>
          <a:xfrm>
            <a:off x="1711152" y="1638589"/>
            <a:ext cx="349565" cy="236394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Gerader Verbinder 158">
            <a:extLst>
              <a:ext uri="{FF2B5EF4-FFF2-40B4-BE49-F238E27FC236}">
                <a16:creationId xmlns:a16="http://schemas.microsoft.com/office/drawing/2014/main" id="{A34E7C45-E437-47DC-2F7D-8B3A2FA2A8E4}"/>
              </a:ext>
            </a:extLst>
          </p:cNvPr>
          <p:cNvCxnSpPr>
            <a:cxnSpLocks/>
            <a:stCxn id="22" idx="3"/>
            <a:endCxn id="75" idx="1"/>
          </p:cNvCxnSpPr>
          <p:nvPr/>
        </p:nvCxnSpPr>
        <p:spPr>
          <a:xfrm>
            <a:off x="5210845" y="438622"/>
            <a:ext cx="321056" cy="530405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r Verbinder 162">
            <a:extLst>
              <a:ext uri="{FF2B5EF4-FFF2-40B4-BE49-F238E27FC236}">
                <a16:creationId xmlns:a16="http://schemas.microsoft.com/office/drawing/2014/main" id="{B89A0112-4F01-5ABA-2012-D58D89573A9F}"/>
              </a:ext>
            </a:extLst>
          </p:cNvPr>
          <p:cNvCxnSpPr>
            <a:cxnSpLocks/>
            <a:stCxn id="30" idx="3"/>
            <a:endCxn id="75" idx="1"/>
          </p:cNvCxnSpPr>
          <p:nvPr/>
        </p:nvCxnSpPr>
        <p:spPr>
          <a:xfrm>
            <a:off x="5210845" y="861909"/>
            <a:ext cx="321056" cy="107118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r Verbinder 165">
            <a:extLst>
              <a:ext uri="{FF2B5EF4-FFF2-40B4-BE49-F238E27FC236}">
                <a16:creationId xmlns:a16="http://schemas.microsoft.com/office/drawing/2014/main" id="{46BF14A6-C6AB-6A6C-E9A2-008EE89FA0DF}"/>
              </a:ext>
            </a:extLst>
          </p:cNvPr>
          <p:cNvCxnSpPr>
            <a:cxnSpLocks/>
            <a:stCxn id="10" idx="1"/>
            <a:endCxn id="72" idx="3"/>
          </p:cNvCxnSpPr>
          <p:nvPr/>
        </p:nvCxnSpPr>
        <p:spPr>
          <a:xfrm flipH="1" flipV="1">
            <a:off x="1711153" y="1421767"/>
            <a:ext cx="349564" cy="453216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Ellipse 137">
            <a:extLst>
              <a:ext uri="{FF2B5EF4-FFF2-40B4-BE49-F238E27FC236}">
                <a16:creationId xmlns:a16="http://schemas.microsoft.com/office/drawing/2014/main" id="{FA03ABAA-ECDE-D73D-5849-9CE1516BE8C1}"/>
              </a:ext>
            </a:extLst>
          </p:cNvPr>
          <p:cNvSpPr/>
          <p:nvPr/>
        </p:nvSpPr>
        <p:spPr>
          <a:xfrm>
            <a:off x="1980297" y="1824716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Rechteck: abgerundete Ecken 72">
            <a:extLst>
              <a:ext uri="{FF2B5EF4-FFF2-40B4-BE49-F238E27FC236}">
                <a16:creationId xmlns:a16="http://schemas.microsoft.com/office/drawing/2014/main" id="{D8D16374-E1C4-AEE7-7C1F-7914356ADD26}"/>
              </a:ext>
            </a:extLst>
          </p:cNvPr>
          <p:cNvSpPr/>
          <p:nvPr/>
        </p:nvSpPr>
        <p:spPr>
          <a:xfrm>
            <a:off x="3833829" y="2961515"/>
            <a:ext cx="1609656" cy="200234"/>
          </a:xfrm>
          <a:prstGeom prst="roundRect">
            <a:avLst/>
          </a:prstGeom>
          <a:gradFill flip="none" rotWithShape="1">
            <a:gsLst>
              <a:gs pos="0">
                <a:srgbClr val="FFFFCC"/>
              </a:gs>
              <a:gs pos="100000">
                <a:srgbClr val="FFC000"/>
              </a:gs>
            </a:gsLst>
            <a:lin ang="2700000" scaled="1"/>
            <a:tileRect/>
          </a:gra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40: rollback/forced installation </a:t>
            </a:r>
          </a:p>
        </p:txBody>
      </p:sp>
      <p:sp>
        <p:nvSpPr>
          <p:cNvPr id="86" name="Rechteck: abgerundete Ecken 85">
            <a:extLst>
              <a:ext uri="{FF2B5EF4-FFF2-40B4-BE49-F238E27FC236}">
                <a16:creationId xmlns:a16="http://schemas.microsoft.com/office/drawing/2014/main" id="{35DC79C5-944B-2F0E-78CC-F92472CDE1C8}"/>
              </a:ext>
            </a:extLst>
          </p:cNvPr>
          <p:cNvSpPr/>
          <p:nvPr/>
        </p:nvSpPr>
        <p:spPr>
          <a:xfrm>
            <a:off x="6096000" y="1155621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49: FW checksum validation</a:t>
            </a:r>
          </a:p>
        </p:txBody>
      </p:sp>
      <p:sp>
        <p:nvSpPr>
          <p:cNvPr id="89" name="Rechteck: abgerundete Ecken 88">
            <a:extLst>
              <a:ext uri="{FF2B5EF4-FFF2-40B4-BE49-F238E27FC236}">
                <a16:creationId xmlns:a16="http://schemas.microsoft.com/office/drawing/2014/main" id="{EDFBAE10-70D1-F266-4F06-0605E761B428}"/>
              </a:ext>
            </a:extLst>
          </p:cNvPr>
          <p:cNvSpPr/>
          <p:nvPr/>
        </p:nvSpPr>
        <p:spPr>
          <a:xfrm>
            <a:off x="3833829" y="3764769"/>
            <a:ext cx="1609656" cy="280753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51: handling service affecting activation</a:t>
            </a:r>
          </a:p>
        </p:txBody>
      </p:sp>
      <p:sp>
        <p:nvSpPr>
          <p:cNvPr id="90" name="Rechteck: abgerundete Ecken 89">
            <a:extLst>
              <a:ext uri="{FF2B5EF4-FFF2-40B4-BE49-F238E27FC236}">
                <a16:creationId xmlns:a16="http://schemas.microsoft.com/office/drawing/2014/main" id="{CC022BEC-A739-EB66-3861-0F0128A68248}"/>
              </a:ext>
            </a:extLst>
          </p:cNvPr>
          <p:cNvSpPr/>
          <p:nvPr/>
        </p:nvSpPr>
        <p:spPr>
          <a:xfrm>
            <a:off x="3868724" y="3205519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50: topology awareness</a:t>
            </a:r>
          </a:p>
        </p:txBody>
      </p:sp>
      <p:sp>
        <p:nvSpPr>
          <p:cNvPr id="92" name="Rechteck: abgerundete Ecken 91">
            <a:extLst>
              <a:ext uri="{FF2B5EF4-FFF2-40B4-BE49-F238E27FC236}">
                <a16:creationId xmlns:a16="http://schemas.microsoft.com/office/drawing/2014/main" id="{78D6D820-367A-DFE0-DCE5-91969461FD9C}"/>
              </a:ext>
            </a:extLst>
          </p:cNvPr>
          <p:cNvSpPr/>
          <p:nvPr/>
        </p:nvSpPr>
        <p:spPr>
          <a:xfrm>
            <a:off x="3868724" y="3500292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52: required reboot handling</a:t>
            </a:r>
          </a:p>
        </p:txBody>
      </p:sp>
      <p:sp>
        <p:nvSpPr>
          <p:cNvPr id="93" name="Ellipse 92">
            <a:extLst>
              <a:ext uri="{FF2B5EF4-FFF2-40B4-BE49-F238E27FC236}">
                <a16:creationId xmlns:a16="http://schemas.microsoft.com/office/drawing/2014/main" id="{AF06191B-6EE4-D6E4-C8A6-4027893951ED}"/>
              </a:ext>
            </a:extLst>
          </p:cNvPr>
          <p:cNvSpPr/>
          <p:nvPr/>
        </p:nvSpPr>
        <p:spPr>
          <a:xfrm>
            <a:off x="3755638" y="2999821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5" name="Ellipse 94">
            <a:extLst>
              <a:ext uri="{FF2B5EF4-FFF2-40B4-BE49-F238E27FC236}">
                <a16:creationId xmlns:a16="http://schemas.microsoft.com/office/drawing/2014/main" id="{09210EB0-4C1F-EB6B-3179-DD12340686B0}"/>
              </a:ext>
            </a:extLst>
          </p:cNvPr>
          <p:cNvSpPr/>
          <p:nvPr/>
        </p:nvSpPr>
        <p:spPr>
          <a:xfrm>
            <a:off x="5999518" y="1195395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77A96CF5-8A48-05CF-6A75-5ED9E4D5B5D9}"/>
              </a:ext>
            </a:extLst>
          </p:cNvPr>
          <p:cNvSpPr/>
          <p:nvPr/>
        </p:nvSpPr>
        <p:spPr>
          <a:xfrm>
            <a:off x="3790361" y="3240720"/>
            <a:ext cx="140043" cy="121255"/>
          </a:xfrm>
          <a:prstGeom prst="ellipse">
            <a:avLst/>
          </a:prstGeom>
          <a:solidFill>
            <a:srgbClr val="FF0000"/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22AB0C15-0359-8DA5-2169-CF26FD44D7F7}"/>
              </a:ext>
            </a:extLst>
          </p:cNvPr>
          <p:cNvSpPr/>
          <p:nvPr/>
        </p:nvSpPr>
        <p:spPr>
          <a:xfrm>
            <a:off x="3790361" y="3523234"/>
            <a:ext cx="140043" cy="121255"/>
          </a:xfrm>
          <a:prstGeom prst="ellipse">
            <a:avLst/>
          </a:prstGeom>
          <a:solidFill>
            <a:srgbClr val="FF0000"/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Ellipse 98">
            <a:extLst>
              <a:ext uri="{FF2B5EF4-FFF2-40B4-BE49-F238E27FC236}">
                <a16:creationId xmlns:a16="http://schemas.microsoft.com/office/drawing/2014/main" id="{4C1EFAF5-917B-D615-067F-0A3956CC1B34}"/>
              </a:ext>
            </a:extLst>
          </p:cNvPr>
          <p:cNvSpPr/>
          <p:nvPr/>
        </p:nvSpPr>
        <p:spPr>
          <a:xfrm>
            <a:off x="3790361" y="3853075"/>
            <a:ext cx="140043" cy="121255"/>
          </a:xfrm>
          <a:prstGeom prst="ellipse">
            <a:avLst/>
          </a:prstGeom>
          <a:solidFill>
            <a:srgbClr val="FF0000"/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0" name="Rechteck 159">
            <a:extLst>
              <a:ext uri="{FF2B5EF4-FFF2-40B4-BE49-F238E27FC236}">
                <a16:creationId xmlns:a16="http://schemas.microsoft.com/office/drawing/2014/main" id="{C0D96F2F-67D3-7261-C38F-4FF4EBBD1C4A}"/>
              </a:ext>
            </a:extLst>
          </p:cNvPr>
          <p:cNvSpPr/>
          <p:nvPr/>
        </p:nvSpPr>
        <p:spPr>
          <a:xfrm>
            <a:off x="3692087" y="2902705"/>
            <a:ext cx="1844130" cy="1191004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6100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93931-1D72-B629-2DAB-8361E7B95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9BC98F58-D396-5519-AAB9-242DFEC183EC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2865545" y="1975100"/>
            <a:ext cx="837562" cy="10888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90CDEF09-CF3D-E610-166D-1D08AC4139EA}"/>
              </a:ext>
            </a:extLst>
          </p:cNvPr>
          <p:cNvCxnSpPr>
            <a:cxnSpLocks/>
            <a:stCxn id="30" idx="3"/>
            <a:endCxn id="86" idx="1"/>
          </p:cNvCxnSpPr>
          <p:nvPr/>
        </p:nvCxnSpPr>
        <p:spPr>
          <a:xfrm>
            <a:off x="5210845" y="861909"/>
            <a:ext cx="885155" cy="3938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95BAEE35-A96B-9969-8F71-E531EE2E0A24}"/>
              </a:ext>
            </a:extLst>
          </p:cNvPr>
          <p:cNvCxnSpPr>
            <a:cxnSpLocks/>
            <a:stCxn id="15" idx="1"/>
            <a:endCxn id="76" idx="3"/>
          </p:cNvCxnSpPr>
          <p:nvPr/>
        </p:nvCxnSpPr>
        <p:spPr>
          <a:xfrm flipH="1">
            <a:off x="3335081" y="2418296"/>
            <a:ext cx="527757" cy="241926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BE9C6ABE-652C-07D4-9145-135ED769BB3F}"/>
              </a:ext>
            </a:extLst>
          </p:cNvPr>
          <p:cNvSpPr/>
          <p:nvPr/>
        </p:nvSpPr>
        <p:spPr>
          <a:xfrm>
            <a:off x="246955" y="324990"/>
            <a:ext cx="1114633" cy="200234"/>
          </a:xfrm>
          <a:prstGeom prst="roundRect">
            <a:avLst/>
          </a:prstGeom>
          <a:solidFill>
            <a:srgbClr val="473464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13: mass rollout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402908FB-B1E1-D830-38AD-8E86E4829296}"/>
              </a:ext>
            </a:extLst>
          </p:cNvPr>
          <p:cNvSpPr/>
          <p:nvPr/>
        </p:nvSpPr>
        <p:spPr>
          <a:xfrm>
            <a:off x="278126" y="4435805"/>
            <a:ext cx="1114633" cy="347072"/>
          </a:xfrm>
          <a:prstGeom prst="roundRect">
            <a:avLst/>
          </a:prstGeom>
          <a:solidFill>
            <a:srgbClr val="473464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14: FW check + upgrade (1 IDU)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19B977D4-592E-E69A-85B6-6CD80117FF42}"/>
              </a:ext>
            </a:extLst>
          </p:cNvPr>
          <p:cNvSpPr/>
          <p:nvPr/>
        </p:nvSpPr>
        <p:spPr>
          <a:xfrm>
            <a:off x="256050" y="5219671"/>
            <a:ext cx="1114633" cy="347072"/>
          </a:xfrm>
          <a:prstGeom prst="roundRect">
            <a:avLst/>
          </a:prstGeom>
          <a:solidFill>
            <a:srgbClr val="473464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15: on-demand FW upgrade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31624786-699C-4EA3-85A9-A42D366FEBA9}"/>
              </a:ext>
            </a:extLst>
          </p:cNvPr>
          <p:cNvSpPr/>
          <p:nvPr/>
        </p:nvSpPr>
        <p:spPr>
          <a:xfrm>
            <a:off x="255941" y="3854015"/>
            <a:ext cx="1114633" cy="347072"/>
          </a:xfrm>
          <a:prstGeom prst="roundRect">
            <a:avLst/>
          </a:prstGeom>
          <a:solidFill>
            <a:srgbClr val="473464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16: QM FW reporting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752FE30D-0C47-C131-4832-9B9846ABB365}"/>
              </a:ext>
            </a:extLst>
          </p:cNvPr>
          <p:cNvSpPr/>
          <p:nvPr/>
        </p:nvSpPr>
        <p:spPr>
          <a:xfrm>
            <a:off x="318172" y="5793641"/>
            <a:ext cx="1114633" cy="200234"/>
          </a:xfrm>
          <a:prstGeom prst="roundRect">
            <a:avLst/>
          </a:prstGeom>
          <a:gradFill flip="none" rotWithShape="1">
            <a:gsLst>
              <a:gs pos="0">
                <a:srgbClr val="FFFFCC"/>
              </a:gs>
              <a:gs pos="100000">
                <a:srgbClr val="FFC000"/>
              </a:gs>
            </a:gsLst>
            <a:lin ang="2700000" scaled="1"/>
            <a:tileRect/>
          </a:gra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31: all vendors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0634A4AC-709D-8422-27A0-DBC6586A9F83}"/>
              </a:ext>
            </a:extLst>
          </p:cNvPr>
          <p:cNvSpPr/>
          <p:nvPr/>
        </p:nvSpPr>
        <p:spPr>
          <a:xfrm>
            <a:off x="2060717" y="2157091"/>
            <a:ext cx="1114633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>
                <a:solidFill>
                  <a:schemeClr val="tx1">
                    <a:lumMod val="75000"/>
                    <a:lumOff val="25000"/>
                  </a:schemeClr>
                </a:solidFill>
              </a:rPr>
              <a:t>33: GUI UX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38ED4C2B-DEA0-8ABE-C6B4-3619AD5C6607}"/>
              </a:ext>
            </a:extLst>
          </p:cNvPr>
          <p:cNvSpPr/>
          <p:nvPr/>
        </p:nvSpPr>
        <p:spPr>
          <a:xfrm>
            <a:off x="2060717" y="1774866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17: GUI module; projects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4400BF9-4A91-B277-31EF-C0AF11669CEA}"/>
              </a:ext>
            </a:extLst>
          </p:cNvPr>
          <p:cNvSpPr/>
          <p:nvPr/>
        </p:nvSpPr>
        <p:spPr>
          <a:xfrm>
            <a:off x="2060717" y="1221533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18: interface to MDOI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2162C2E0-282D-ECDB-425C-8AC55508F219}"/>
              </a:ext>
            </a:extLst>
          </p:cNvPr>
          <p:cNvSpPr/>
          <p:nvPr/>
        </p:nvSpPr>
        <p:spPr>
          <a:xfrm>
            <a:off x="3946210" y="1550611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19: maintain IDU blacklist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81B04185-A4D2-3852-5802-039DDB814507}"/>
              </a:ext>
            </a:extLst>
          </p:cNvPr>
          <p:cNvSpPr/>
          <p:nvPr/>
        </p:nvSpPr>
        <p:spPr>
          <a:xfrm>
            <a:off x="5999518" y="1552144"/>
            <a:ext cx="1609656" cy="200234"/>
          </a:xfrm>
          <a:prstGeom prst="roundRect">
            <a:avLst/>
          </a:prstGeom>
          <a:solidFill>
            <a:srgbClr val="FFC000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20: exclude blacklist IDUs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EDD8175B-A394-B373-D843-3B8CC8B4A135}"/>
              </a:ext>
            </a:extLst>
          </p:cNvPr>
          <p:cNvSpPr/>
          <p:nvPr/>
        </p:nvSpPr>
        <p:spPr>
          <a:xfrm>
            <a:off x="3946210" y="1810470"/>
            <a:ext cx="1609656" cy="200234"/>
          </a:xfrm>
          <a:prstGeom prst="roundRect">
            <a:avLst/>
          </a:prstGeom>
          <a:solidFill>
            <a:srgbClr val="FFC000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21: mapping IDU – device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B227580F-4EB9-7EAE-8802-F4363714967B}"/>
              </a:ext>
            </a:extLst>
          </p:cNvPr>
          <p:cNvSpPr/>
          <p:nvPr/>
        </p:nvSpPr>
        <p:spPr>
          <a:xfrm>
            <a:off x="3862838" y="2318179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22: project scheduling 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9A6C2348-0302-CA2D-E9D2-30EE73432BF0}"/>
              </a:ext>
            </a:extLst>
          </p:cNvPr>
          <p:cNvSpPr/>
          <p:nvPr/>
        </p:nvSpPr>
        <p:spPr>
          <a:xfrm>
            <a:off x="3862838" y="2530706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24: manual project exec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0E3324F7-8BDF-0F6F-01DE-107DA6C2B831}"/>
              </a:ext>
            </a:extLst>
          </p:cNvPr>
          <p:cNvSpPr/>
          <p:nvPr/>
        </p:nvSpPr>
        <p:spPr>
          <a:xfrm>
            <a:off x="7704540" y="2953736"/>
            <a:ext cx="1609656" cy="200234"/>
          </a:xfrm>
          <a:prstGeom prst="roundRect">
            <a:avLst/>
          </a:prstGeom>
          <a:gradFill flip="none" rotWithShape="1">
            <a:gsLst>
              <a:gs pos="0">
                <a:srgbClr val="FFFFCC"/>
              </a:gs>
              <a:gs pos="100000">
                <a:srgbClr val="FFC000"/>
              </a:gs>
            </a:gsLst>
            <a:lin ang="2700000" scaled="1"/>
            <a:tileRect/>
          </a:gra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25: list upgrade results 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09BCF9F1-9AD0-334D-7214-65474C8EEDCA}"/>
              </a:ext>
            </a:extLst>
          </p:cNvPr>
          <p:cNvSpPr/>
          <p:nvPr/>
        </p:nvSpPr>
        <p:spPr>
          <a:xfrm>
            <a:off x="9757295" y="2853619"/>
            <a:ext cx="1609656" cy="200234"/>
          </a:xfrm>
          <a:prstGeom prst="roundRect">
            <a:avLst/>
          </a:prstGeom>
          <a:solidFill>
            <a:srgbClr val="FFC000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26: meaningful SDN responses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187F7E4D-B961-E856-FD76-44384186B956}"/>
              </a:ext>
            </a:extLst>
          </p:cNvPr>
          <p:cNvSpPr/>
          <p:nvPr/>
        </p:nvSpPr>
        <p:spPr>
          <a:xfrm>
            <a:off x="9757295" y="3053853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27: GUI interprets responses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814FCB83-077D-BA55-2D0B-36DC2EF2CB0F}"/>
              </a:ext>
            </a:extLst>
          </p:cNvPr>
          <p:cNvSpPr/>
          <p:nvPr/>
        </p:nvSpPr>
        <p:spPr>
          <a:xfrm>
            <a:off x="5698313" y="2318179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23: interface TSM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4B98EDB2-4A87-F37D-DB7B-36EB2E6DE4B6}"/>
              </a:ext>
            </a:extLst>
          </p:cNvPr>
          <p:cNvSpPr/>
          <p:nvPr/>
        </p:nvSpPr>
        <p:spPr>
          <a:xfrm>
            <a:off x="3601189" y="146058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28: access GLORIA</a:t>
            </a: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026F46AA-BA52-6AD7-76B8-46FD04EF5E88}"/>
              </a:ext>
            </a:extLst>
          </p:cNvPr>
          <p:cNvSpPr/>
          <p:nvPr/>
        </p:nvSpPr>
        <p:spPr>
          <a:xfrm>
            <a:off x="3601189" y="338505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29: download FW to NMS</a:t>
            </a:r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5417F44E-0C12-AAD4-2F64-6C9CA1B3ECF6}"/>
              </a:ext>
            </a:extLst>
          </p:cNvPr>
          <p:cNvSpPr/>
          <p:nvPr/>
        </p:nvSpPr>
        <p:spPr>
          <a:xfrm>
            <a:off x="3601189" y="547091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30: FW housekeeping 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F0A34879-B273-F032-F0E3-2BCF46326734}"/>
              </a:ext>
            </a:extLst>
          </p:cNvPr>
          <p:cNvSpPr/>
          <p:nvPr/>
        </p:nvSpPr>
        <p:spPr>
          <a:xfrm>
            <a:off x="7704540" y="3240748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32: change log </a:t>
            </a:r>
          </a:p>
        </p:txBody>
      </p: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4E2383DA-73AF-D1FF-0B87-7DBB4F3DB63E}"/>
              </a:ext>
            </a:extLst>
          </p:cNvPr>
          <p:cNvSpPr/>
          <p:nvPr/>
        </p:nvSpPr>
        <p:spPr>
          <a:xfrm>
            <a:off x="6217341" y="5395259"/>
            <a:ext cx="1609656" cy="200234"/>
          </a:xfrm>
          <a:prstGeom prst="roundRect">
            <a:avLst/>
          </a:prstGeom>
          <a:gradFill flip="none" rotWithShape="1">
            <a:gsLst>
              <a:gs pos="0">
                <a:srgbClr val="FFFFCC"/>
              </a:gs>
              <a:gs pos="100000">
                <a:srgbClr val="FFC000"/>
              </a:gs>
            </a:gsLst>
            <a:lin ang="2700000" scaled="1"/>
            <a:tileRect/>
          </a:gra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34: get current installed FW</a:t>
            </a:r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CACDB418-F354-7965-0303-8EA48E054698}"/>
              </a:ext>
            </a:extLst>
          </p:cNvPr>
          <p:cNvSpPr/>
          <p:nvPr/>
        </p:nvSpPr>
        <p:spPr>
          <a:xfrm>
            <a:off x="8326404" y="5278424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700">
                <a:solidFill>
                  <a:schemeClr val="tx1"/>
                </a:solidFill>
              </a:rPr>
              <a:t>35: GUI dialogue: get installed FW</a:t>
            </a: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4C12BD84-F02D-AD36-667F-C1118CD4C4C5}"/>
              </a:ext>
            </a:extLst>
          </p:cNvPr>
          <p:cNvSpPr/>
          <p:nvPr/>
        </p:nvSpPr>
        <p:spPr>
          <a:xfrm>
            <a:off x="8326404" y="5502562"/>
            <a:ext cx="1609656" cy="200234"/>
          </a:xfrm>
          <a:prstGeom prst="roundRect">
            <a:avLst/>
          </a:prstGeom>
          <a:solidFill>
            <a:srgbClr val="FFC000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36: SDN: get FW from device</a:t>
            </a:r>
            <a:r>
              <a:rPr lang="de-DE" sz="100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EF28AD62-2905-4A83-A722-04E6BB6AF9CA}"/>
              </a:ext>
            </a:extLst>
          </p:cNvPr>
          <p:cNvSpPr/>
          <p:nvPr/>
        </p:nvSpPr>
        <p:spPr>
          <a:xfrm>
            <a:off x="4018109" y="5741750"/>
            <a:ext cx="1756774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37: FW upgrade (auto/manual)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3F112913-5516-C381-9DD4-39BE9F1A6DD1}"/>
              </a:ext>
            </a:extLst>
          </p:cNvPr>
          <p:cNvSpPr/>
          <p:nvPr/>
        </p:nvSpPr>
        <p:spPr>
          <a:xfrm>
            <a:off x="3987229" y="4753885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38: periodic comparisons </a:t>
            </a:r>
          </a:p>
        </p:txBody>
      </p:sp>
      <p:sp>
        <p:nvSpPr>
          <p:cNvPr id="30" name="Rechteck: abgerundete Ecken 29">
            <a:extLst>
              <a:ext uri="{FF2B5EF4-FFF2-40B4-BE49-F238E27FC236}">
                <a16:creationId xmlns:a16="http://schemas.microsoft.com/office/drawing/2014/main" id="{06889D1A-264A-280F-08B9-638B7141A30B}"/>
              </a:ext>
            </a:extLst>
          </p:cNvPr>
          <p:cNvSpPr/>
          <p:nvPr/>
        </p:nvSpPr>
        <p:spPr>
          <a:xfrm>
            <a:off x="3601189" y="761792"/>
            <a:ext cx="1609656" cy="200234"/>
          </a:xfrm>
          <a:prstGeom prst="roundRect">
            <a:avLst/>
          </a:prstGeom>
          <a:solidFill>
            <a:srgbClr val="FFC000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00">
                <a:solidFill>
                  <a:schemeClr val="tx1"/>
                </a:solidFill>
              </a:rPr>
              <a:t>39: upload FW to devices </a:t>
            </a:r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53B32815-8B73-D18A-C7C8-391E86DB20C1}"/>
              </a:ext>
            </a:extLst>
          </p:cNvPr>
          <p:cNvSpPr/>
          <p:nvPr/>
        </p:nvSpPr>
        <p:spPr>
          <a:xfrm>
            <a:off x="5698313" y="2973753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41: auto-handing problem IDUs </a:t>
            </a: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5DE68345-492F-37A3-CC4F-14E322CF54DB}"/>
              </a:ext>
            </a:extLst>
          </p:cNvPr>
          <p:cNvSpPr/>
          <p:nvPr/>
        </p:nvSpPr>
        <p:spPr>
          <a:xfrm>
            <a:off x="298148" y="6068765"/>
            <a:ext cx="1154679" cy="200234"/>
          </a:xfrm>
          <a:prstGeom prst="roundRect">
            <a:avLst/>
          </a:prstGeom>
          <a:gradFill flip="none" rotWithShape="1">
            <a:gsLst>
              <a:gs pos="0">
                <a:srgbClr val="FFFFCC"/>
              </a:gs>
              <a:gs pos="100000">
                <a:srgbClr val="FFC000"/>
              </a:gs>
            </a:gsLst>
            <a:lin ang="2700000" scaled="1"/>
            <a:tileRect/>
          </a:gra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42: basekey usage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49446513-C935-8B46-05FF-B808E1DB0BF1}"/>
              </a:ext>
            </a:extLst>
          </p:cNvPr>
          <p:cNvCxnSpPr>
            <a:stCxn id="12" idx="3"/>
            <a:endCxn id="13" idx="1"/>
          </p:cNvCxnSpPr>
          <p:nvPr/>
        </p:nvCxnSpPr>
        <p:spPr>
          <a:xfrm>
            <a:off x="5555866" y="1650728"/>
            <a:ext cx="443652" cy="15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8CABA738-2545-7AC8-8CE2-ABE5455056A5}"/>
              </a:ext>
            </a:extLst>
          </p:cNvPr>
          <p:cNvCxnSpPr>
            <a:cxnSpLocks/>
            <a:stCxn id="15" idx="3"/>
            <a:endCxn id="20" idx="1"/>
          </p:cNvCxnSpPr>
          <p:nvPr/>
        </p:nvCxnSpPr>
        <p:spPr>
          <a:xfrm>
            <a:off x="5472494" y="2418296"/>
            <a:ext cx="225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41BE205B-3B0D-2670-1E53-C5249660E97F}"/>
              </a:ext>
            </a:extLst>
          </p:cNvPr>
          <p:cNvCxnSpPr>
            <a:cxnSpLocks/>
            <a:stCxn id="17" idx="3"/>
            <a:endCxn id="18" idx="1"/>
          </p:cNvCxnSpPr>
          <p:nvPr/>
        </p:nvCxnSpPr>
        <p:spPr>
          <a:xfrm flipV="1">
            <a:off x="9314196" y="2953736"/>
            <a:ext cx="443099" cy="1001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A010B06E-CFA0-95D6-963A-E63B4E28454C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9314196" y="3053853"/>
            <a:ext cx="443099" cy="1001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CA033D4B-A6EC-73CF-391F-167CEC45F0E7}"/>
              </a:ext>
            </a:extLst>
          </p:cNvPr>
          <p:cNvCxnSpPr>
            <a:stCxn id="32" idx="3"/>
            <a:endCxn id="17" idx="1"/>
          </p:cNvCxnSpPr>
          <p:nvPr/>
        </p:nvCxnSpPr>
        <p:spPr>
          <a:xfrm flipV="1">
            <a:off x="7307969" y="3053853"/>
            <a:ext cx="396571" cy="200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A4D779FE-4C0B-3F92-C804-0C734A265552}"/>
              </a:ext>
            </a:extLst>
          </p:cNvPr>
          <p:cNvCxnSpPr>
            <a:stCxn id="32" idx="3"/>
            <a:endCxn id="24" idx="1"/>
          </p:cNvCxnSpPr>
          <p:nvPr/>
        </p:nvCxnSpPr>
        <p:spPr>
          <a:xfrm>
            <a:off x="7307969" y="3073870"/>
            <a:ext cx="396571" cy="2669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55C52083-C8A6-0552-A56C-61101B0EFBA5}"/>
              </a:ext>
            </a:extLst>
          </p:cNvPr>
          <p:cNvSpPr/>
          <p:nvPr/>
        </p:nvSpPr>
        <p:spPr>
          <a:xfrm>
            <a:off x="6217341" y="5144967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44: determine target FW version</a:t>
            </a: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91E2CBC4-99FA-DF8C-07B7-A53AD561D591}"/>
              </a:ext>
            </a:extLst>
          </p:cNvPr>
          <p:cNvSpPr/>
          <p:nvPr/>
        </p:nvSpPr>
        <p:spPr>
          <a:xfrm>
            <a:off x="2038532" y="317367"/>
            <a:ext cx="1191113" cy="577718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45: FW distribution orchestration</a:t>
            </a:r>
          </a:p>
          <a:p>
            <a:r>
              <a:rPr lang="de-DE" sz="900">
                <a:solidFill>
                  <a:schemeClr val="tx1"/>
                </a:solidFill>
              </a:rPr>
              <a:t>(ClusterIssue - no requirement)</a:t>
            </a:r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084F13D0-13D7-A42D-7F50-048A917546C1}"/>
              </a:ext>
            </a:extLst>
          </p:cNvPr>
          <p:cNvCxnSpPr>
            <a:cxnSpLocks/>
            <a:stCxn id="41" idx="3"/>
            <a:endCxn id="21" idx="1"/>
          </p:cNvCxnSpPr>
          <p:nvPr/>
        </p:nvCxnSpPr>
        <p:spPr>
          <a:xfrm flipV="1">
            <a:off x="3229645" y="246175"/>
            <a:ext cx="371544" cy="3600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28BEDE0-3408-69C5-FEBF-49AE2AE87536}"/>
              </a:ext>
            </a:extLst>
          </p:cNvPr>
          <p:cNvCxnSpPr>
            <a:cxnSpLocks/>
            <a:stCxn id="41" idx="3"/>
            <a:endCxn id="22" idx="1"/>
          </p:cNvCxnSpPr>
          <p:nvPr/>
        </p:nvCxnSpPr>
        <p:spPr>
          <a:xfrm flipV="1">
            <a:off x="3229645" y="438622"/>
            <a:ext cx="371544" cy="167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1147149F-BC75-B2F9-94CD-762D359EF5C4}"/>
              </a:ext>
            </a:extLst>
          </p:cNvPr>
          <p:cNvCxnSpPr>
            <a:cxnSpLocks/>
            <a:stCxn id="41" idx="3"/>
            <a:endCxn id="23" idx="1"/>
          </p:cNvCxnSpPr>
          <p:nvPr/>
        </p:nvCxnSpPr>
        <p:spPr>
          <a:xfrm>
            <a:off x="3229645" y="606226"/>
            <a:ext cx="371544" cy="409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3407DCCC-5F8D-ECCE-49E0-A769087BC611}"/>
              </a:ext>
            </a:extLst>
          </p:cNvPr>
          <p:cNvCxnSpPr>
            <a:cxnSpLocks/>
            <a:stCxn id="41" idx="3"/>
            <a:endCxn id="30" idx="1"/>
          </p:cNvCxnSpPr>
          <p:nvPr/>
        </p:nvCxnSpPr>
        <p:spPr>
          <a:xfrm>
            <a:off x="3229645" y="606226"/>
            <a:ext cx="371544" cy="2556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CD2D4E5-5484-9A3F-E8CC-9A3829E78E31}"/>
              </a:ext>
            </a:extLst>
          </p:cNvPr>
          <p:cNvCxnSpPr>
            <a:cxnSpLocks/>
            <a:stCxn id="25" idx="3"/>
            <a:endCxn id="27" idx="1"/>
          </p:cNvCxnSpPr>
          <p:nvPr/>
        </p:nvCxnSpPr>
        <p:spPr>
          <a:xfrm>
            <a:off x="7826997" y="5495376"/>
            <a:ext cx="499407" cy="107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B8245153-0BAD-33D0-8531-3F05A8074B8B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7826997" y="5378541"/>
            <a:ext cx="499407" cy="1168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D6260B27-370A-0D63-4F3D-A8A1F6CA0424}"/>
              </a:ext>
            </a:extLst>
          </p:cNvPr>
          <p:cNvCxnSpPr>
            <a:cxnSpLocks/>
            <a:stCxn id="16" idx="3"/>
            <a:endCxn id="32" idx="1"/>
          </p:cNvCxnSpPr>
          <p:nvPr/>
        </p:nvCxnSpPr>
        <p:spPr>
          <a:xfrm>
            <a:off x="5472494" y="2630823"/>
            <a:ext cx="225819" cy="4430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86F419A7-7550-A3F5-B8DB-7CAAAF3133C0}"/>
              </a:ext>
            </a:extLst>
          </p:cNvPr>
          <p:cNvCxnSpPr>
            <a:cxnSpLocks/>
            <a:stCxn id="10" idx="3"/>
            <a:endCxn id="16" idx="1"/>
          </p:cNvCxnSpPr>
          <p:nvPr/>
        </p:nvCxnSpPr>
        <p:spPr>
          <a:xfrm>
            <a:off x="3670373" y="1874983"/>
            <a:ext cx="192465" cy="7558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071641ED-BE5E-5F36-02FD-09FA909B5820}"/>
              </a:ext>
            </a:extLst>
          </p:cNvPr>
          <p:cNvCxnSpPr>
            <a:cxnSpLocks/>
            <a:stCxn id="10" idx="3"/>
            <a:endCxn id="15" idx="1"/>
          </p:cNvCxnSpPr>
          <p:nvPr/>
        </p:nvCxnSpPr>
        <p:spPr>
          <a:xfrm>
            <a:off x="3670373" y="1874983"/>
            <a:ext cx="192465" cy="5433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6ACA9DFC-7912-60C2-2CCE-E204CEDBFB1B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1361588" y="425107"/>
            <a:ext cx="699129" cy="14498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53C3180-C611-1D10-7A36-9A8459479E12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1361588" y="425107"/>
            <a:ext cx="699129" cy="8965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339D1A29-F06F-302C-C3E6-3391E9AE4937}"/>
              </a:ext>
            </a:extLst>
          </p:cNvPr>
          <p:cNvCxnSpPr>
            <a:cxnSpLocks/>
            <a:stCxn id="4" idx="3"/>
            <a:endCxn id="41" idx="1"/>
          </p:cNvCxnSpPr>
          <p:nvPr/>
        </p:nvCxnSpPr>
        <p:spPr>
          <a:xfrm>
            <a:off x="1361588" y="425107"/>
            <a:ext cx="676944" cy="1811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C8419FAE-3F7C-018D-AC22-73BC879DBE3E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670373" y="1650728"/>
            <a:ext cx="275837" cy="220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38AEB5DD-60BA-C94C-86F5-190E3A3B6937}"/>
              </a:ext>
            </a:extLst>
          </p:cNvPr>
          <p:cNvCxnSpPr>
            <a:cxnSpLocks/>
            <a:stCxn id="10" idx="3"/>
            <a:endCxn id="14" idx="1"/>
          </p:cNvCxnSpPr>
          <p:nvPr/>
        </p:nvCxnSpPr>
        <p:spPr>
          <a:xfrm>
            <a:off x="3670373" y="1874983"/>
            <a:ext cx="275837" cy="35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: abgerundete Ecken 55">
            <a:extLst>
              <a:ext uri="{FF2B5EF4-FFF2-40B4-BE49-F238E27FC236}">
                <a16:creationId xmlns:a16="http://schemas.microsoft.com/office/drawing/2014/main" id="{323D78CF-CC75-5373-DF14-60B89051E266}"/>
              </a:ext>
            </a:extLst>
          </p:cNvPr>
          <p:cNvSpPr/>
          <p:nvPr/>
        </p:nvSpPr>
        <p:spPr>
          <a:xfrm>
            <a:off x="5989120" y="1795223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43: rollout per device not IDU</a:t>
            </a:r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B7E91C13-95AB-8209-E2E8-14920A2DBE79}"/>
              </a:ext>
            </a:extLst>
          </p:cNvPr>
          <p:cNvCxnSpPr>
            <a:cxnSpLocks/>
            <a:stCxn id="12" idx="3"/>
            <a:endCxn id="56" idx="1"/>
          </p:cNvCxnSpPr>
          <p:nvPr/>
        </p:nvCxnSpPr>
        <p:spPr>
          <a:xfrm>
            <a:off x="5555866" y="1650728"/>
            <a:ext cx="433254" cy="2446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C659DBB0-A60F-372A-23FF-3FBFDE3151D9}"/>
              </a:ext>
            </a:extLst>
          </p:cNvPr>
          <p:cNvCxnSpPr>
            <a:stCxn id="6" idx="3"/>
            <a:endCxn id="28" idx="1"/>
          </p:cNvCxnSpPr>
          <p:nvPr/>
        </p:nvCxnSpPr>
        <p:spPr>
          <a:xfrm>
            <a:off x="1370683" y="5393207"/>
            <a:ext cx="2647426" cy="4486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hteck: abgerundete Ecken 58">
            <a:extLst>
              <a:ext uri="{FF2B5EF4-FFF2-40B4-BE49-F238E27FC236}">
                <a16:creationId xmlns:a16="http://schemas.microsoft.com/office/drawing/2014/main" id="{A2757CE1-03BA-A376-45EB-6653F64E124F}"/>
              </a:ext>
            </a:extLst>
          </p:cNvPr>
          <p:cNvSpPr/>
          <p:nvPr/>
        </p:nvSpPr>
        <p:spPr>
          <a:xfrm>
            <a:off x="3996215" y="5009399"/>
            <a:ext cx="1756773" cy="214037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46: on demand comparison installed/target FW</a:t>
            </a:r>
          </a:p>
        </p:txBody>
      </p: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ECFBBC22-DC22-C2F9-A8F7-AD4700843397}"/>
              </a:ext>
            </a:extLst>
          </p:cNvPr>
          <p:cNvCxnSpPr>
            <a:cxnSpLocks/>
            <a:stCxn id="59" idx="3"/>
            <a:endCxn id="40" idx="1"/>
          </p:cNvCxnSpPr>
          <p:nvPr/>
        </p:nvCxnSpPr>
        <p:spPr>
          <a:xfrm>
            <a:off x="5752988" y="5116418"/>
            <a:ext cx="464353" cy="1286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BB53B1AE-6C45-C48E-D8FA-9C86F32C1F42}"/>
              </a:ext>
            </a:extLst>
          </p:cNvPr>
          <p:cNvCxnSpPr>
            <a:cxnSpLocks/>
            <a:stCxn id="59" idx="3"/>
            <a:endCxn id="25" idx="1"/>
          </p:cNvCxnSpPr>
          <p:nvPr/>
        </p:nvCxnSpPr>
        <p:spPr>
          <a:xfrm>
            <a:off x="5752988" y="5116418"/>
            <a:ext cx="464353" cy="3789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3C1AAE31-A295-E029-AE4F-B2521A595D30}"/>
              </a:ext>
            </a:extLst>
          </p:cNvPr>
          <p:cNvCxnSpPr>
            <a:cxnSpLocks/>
            <a:stCxn id="7" idx="3"/>
            <a:endCxn id="59" idx="1"/>
          </p:cNvCxnSpPr>
          <p:nvPr/>
        </p:nvCxnSpPr>
        <p:spPr>
          <a:xfrm>
            <a:off x="1370574" y="4027551"/>
            <a:ext cx="2625641" cy="10888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10CF088D-C3FD-BDED-2173-D898E86CD100}"/>
              </a:ext>
            </a:extLst>
          </p:cNvPr>
          <p:cNvCxnSpPr>
            <a:cxnSpLocks/>
            <a:stCxn id="29" idx="3"/>
            <a:endCxn id="25" idx="1"/>
          </p:cNvCxnSpPr>
          <p:nvPr/>
        </p:nvCxnSpPr>
        <p:spPr>
          <a:xfrm>
            <a:off x="5596885" y="4854002"/>
            <a:ext cx="620456" cy="6413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AF5CD745-6333-F70D-DA1C-0EBBF31D9A6A}"/>
              </a:ext>
            </a:extLst>
          </p:cNvPr>
          <p:cNvCxnSpPr>
            <a:cxnSpLocks/>
            <a:stCxn id="29" idx="3"/>
            <a:endCxn id="40" idx="1"/>
          </p:cNvCxnSpPr>
          <p:nvPr/>
        </p:nvCxnSpPr>
        <p:spPr>
          <a:xfrm>
            <a:off x="5596885" y="4854002"/>
            <a:ext cx="620456" cy="3910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32498449-BC0E-E96E-0136-8640CD8A7D5F}"/>
              </a:ext>
            </a:extLst>
          </p:cNvPr>
          <p:cNvCxnSpPr>
            <a:cxnSpLocks/>
            <a:stCxn id="7" idx="3"/>
            <a:endCxn id="29" idx="1"/>
          </p:cNvCxnSpPr>
          <p:nvPr/>
        </p:nvCxnSpPr>
        <p:spPr>
          <a:xfrm>
            <a:off x="1370574" y="4027551"/>
            <a:ext cx="2616655" cy="826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0B1381CF-31ED-BD5B-8747-0855B69E7158}"/>
              </a:ext>
            </a:extLst>
          </p:cNvPr>
          <p:cNvCxnSpPr>
            <a:cxnSpLocks/>
            <a:stCxn id="5" idx="3"/>
            <a:endCxn id="59" idx="1"/>
          </p:cNvCxnSpPr>
          <p:nvPr/>
        </p:nvCxnSpPr>
        <p:spPr>
          <a:xfrm>
            <a:off x="1392759" y="4609341"/>
            <a:ext cx="2603456" cy="5070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352073CC-44FC-D347-8F3A-FC8BDDA21AD2}"/>
              </a:ext>
            </a:extLst>
          </p:cNvPr>
          <p:cNvCxnSpPr>
            <a:cxnSpLocks/>
            <a:stCxn id="5" idx="3"/>
            <a:endCxn id="28" idx="1"/>
          </p:cNvCxnSpPr>
          <p:nvPr/>
        </p:nvCxnSpPr>
        <p:spPr>
          <a:xfrm>
            <a:off x="1392759" y="4609341"/>
            <a:ext cx="2625350" cy="12325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D873E9FE-8200-D343-813F-B5FFA8BE7551}"/>
              </a:ext>
            </a:extLst>
          </p:cNvPr>
          <p:cNvCxnSpPr>
            <a:cxnSpLocks/>
            <a:stCxn id="10" idx="2"/>
            <a:endCxn id="9" idx="0"/>
          </p:cNvCxnSpPr>
          <p:nvPr/>
        </p:nvCxnSpPr>
        <p:spPr>
          <a:xfrm flipH="1">
            <a:off x="2618034" y="1975100"/>
            <a:ext cx="247511" cy="1819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hteck: abgerundete Ecken 82">
            <a:extLst>
              <a:ext uri="{FF2B5EF4-FFF2-40B4-BE49-F238E27FC236}">
                <a16:creationId xmlns:a16="http://schemas.microsoft.com/office/drawing/2014/main" id="{6292630F-EF06-04F0-CDA2-E06CAE897EFA}"/>
              </a:ext>
            </a:extLst>
          </p:cNvPr>
          <p:cNvSpPr/>
          <p:nvPr/>
        </p:nvSpPr>
        <p:spPr>
          <a:xfrm>
            <a:off x="3926560" y="1211983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48: Exec in MDOI / not MDOI</a:t>
            </a:r>
          </a:p>
        </p:txBody>
      </p: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D825C5BD-4FE0-DD8C-AA15-01FE4D5F1B91}"/>
              </a:ext>
            </a:extLst>
          </p:cNvPr>
          <p:cNvCxnSpPr>
            <a:cxnSpLocks/>
            <a:stCxn id="11" idx="3"/>
            <a:endCxn id="83" idx="1"/>
          </p:cNvCxnSpPr>
          <p:nvPr/>
        </p:nvCxnSpPr>
        <p:spPr>
          <a:xfrm flipV="1">
            <a:off x="3670373" y="1312100"/>
            <a:ext cx="256187" cy="95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Ellipse 100">
            <a:extLst>
              <a:ext uri="{FF2B5EF4-FFF2-40B4-BE49-F238E27FC236}">
                <a16:creationId xmlns:a16="http://schemas.microsoft.com/office/drawing/2014/main" id="{2D934ABC-F9F4-0321-0808-71BBFD3BC10B}"/>
              </a:ext>
            </a:extLst>
          </p:cNvPr>
          <p:cNvSpPr/>
          <p:nvPr/>
        </p:nvSpPr>
        <p:spPr>
          <a:xfrm>
            <a:off x="10272584" y="317367"/>
            <a:ext cx="140043" cy="121255"/>
          </a:xfrm>
          <a:prstGeom prst="ellipse">
            <a:avLst/>
          </a:prstGeom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B95C6C83-0061-1831-A6D6-3398ED5FED5F}"/>
              </a:ext>
            </a:extLst>
          </p:cNvPr>
          <p:cNvSpPr txBox="1"/>
          <p:nvPr/>
        </p:nvSpPr>
        <p:spPr>
          <a:xfrm>
            <a:off x="10406257" y="246175"/>
            <a:ext cx="8483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/>
              <a:t>Quality req</a:t>
            </a:r>
          </a:p>
        </p:txBody>
      </p:sp>
      <p:sp>
        <p:nvSpPr>
          <p:cNvPr id="103" name="Ellipse 102">
            <a:extLst>
              <a:ext uri="{FF2B5EF4-FFF2-40B4-BE49-F238E27FC236}">
                <a16:creationId xmlns:a16="http://schemas.microsoft.com/office/drawing/2014/main" id="{921E786F-FF7E-D485-624A-3BCAC6F73D6D}"/>
              </a:ext>
            </a:extLst>
          </p:cNvPr>
          <p:cNvSpPr/>
          <p:nvPr/>
        </p:nvSpPr>
        <p:spPr>
          <a:xfrm>
            <a:off x="3856538" y="1242653"/>
            <a:ext cx="140043" cy="121255"/>
          </a:xfrm>
          <a:prstGeom prst="ellipse">
            <a:avLst/>
          </a:prstGeom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4" name="Ellipse 103">
            <a:extLst>
              <a:ext uri="{FF2B5EF4-FFF2-40B4-BE49-F238E27FC236}">
                <a16:creationId xmlns:a16="http://schemas.microsoft.com/office/drawing/2014/main" id="{5ED6F08D-3773-1467-9738-439A7E120062}"/>
              </a:ext>
            </a:extLst>
          </p:cNvPr>
          <p:cNvSpPr/>
          <p:nvPr/>
        </p:nvSpPr>
        <p:spPr>
          <a:xfrm>
            <a:off x="2038532" y="2187344"/>
            <a:ext cx="140043" cy="121255"/>
          </a:xfrm>
          <a:prstGeom prst="ellipse">
            <a:avLst/>
          </a:prstGeom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5" name="Ellipse 104">
            <a:extLst>
              <a:ext uri="{FF2B5EF4-FFF2-40B4-BE49-F238E27FC236}">
                <a16:creationId xmlns:a16="http://schemas.microsoft.com/office/drawing/2014/main" id="{7EB16FFA-F22C-CD94-95E8-B080D01FC67F}"/>
              </a:ext>
            </a:extLst>
          </p:cNvPr>
          <p:cNvSpPr/>
          <p:nvPr/>
        </p:nvSpPr>
        <p:spPr>
          <a:xfrm>
            <a:off x="9649453" y="2902705"/>
            <a:ext cx="140043" cy="121255"/>
          </a:xfrm>
          <a:prstGeom prst="ellipse">
            <a:avLst/>
          </a:prstGeom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" name="Ellipse 105">
            <a:extLst>
              <a:ext uri="{FF2B5EF4-FFF2-40B4-BE49-F238E27FC236}">
                <a16:creationId xmlns:a16="http://schemas.microsoft.com/office/drawing/2014/main" id="{8E189A13-BFD5-C1A1-3FD8-38B99AFD5561}"/>
              </a:ext>
            </a:extLst>
          </p:cNvPr>
          <p:cNvSpPr/>
          <p:nvPr/>
        </p:nvSpPr>
        <p:spPr>
          <a:xfrm>
            <a:off x="10268644" y="525953"/>
            <a:ext cx="140043" cy="121255"/>
          </a:xfrm>
          <a:prstGeom prst="ellipse">
            <a:avLst/>
          </a:prstGeom>
          <a:solidFill>
            <a:srgbClr val="FF0000"/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Textfeld 106">
            <a:extLst>
              <a:ext uri="{FF2B5EF4-FFF2-40B4-BE49-F238E27FC236}">
                <a16:creationId xmlns:a16="http://schemas.microsoft.com/office/drawing/2014/main" id="{60AB9363-6845-BB12-2E60-5FA2FFE263EB}"/>
              </a:ext>
            </a:extLst>
          </p:cNvPr>
          <p:cNvSpPr txBox="1"/>
          <p:nvPr/>
        </p:nvSpPr>
        <p:spPr>
          <a:xfrm>
            <a:off x="10406257" y="468362"/>
            <a:ext cx="10438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/>
              <a:t>Business Rule</a:t>
            </a:r>
          </a:p>
        </p:txBody>
      </p:sp>
      <p:sp>
        <p:nvSpPr>
          <p:cNvPr id="108" name="Ellipse 107">
            <a:extLst>
              <a:ext uri="{FF2B5EF4-FFF2-40B4-BE49-F238E27FC236}">
                <a16:creationId xmlns:a16="http://schemas.microsoft.com/office/drawing/2014/main" id="{000F5689-EF21-6A5A-A56C-8200ABDCCBD5}"/>
              </a:ext>
            </a:extLst>
          </p:cNvPr>
          <p:cNvSpPr/>
          <p:nvPr/>
        </p:nvSpPr>
        <p:spPr>
          <a:xfrm>
            <a:off x="5919098" y="1810722"/>
            <a:ext cx="140043" cy="121255"/>
          </a:xfrm>
          <a:prstGeom prst="ellipse">
            <a:avLst/>
          </a:prstGeom>
          <a:solidFill>
            <a:srgbClr val="FF0000"/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1" name="Ellipse 110">
            <a:extLst>
              <a:ext uri="{FF2B5EF4-FFF2-40B4-BE49-F238E27FC236}">
                <a16:creationId xmlns:a16="http://schemas.microsoft.com/office/drawing/2014/main" id="{03104CCC-EE3E-645A-BE9D-78869EF5A9DF}"/>
              </a:ext>
            </a:extLst>
          </p:cNvPr>
          <p:cNvSpPr/>
          <p:nvPr/>
        </p:nvSpPr>
        <p:spPr>
          <a:xfrm>
            <a:off x="228126" y="6096104"/>
            <a:ext cx="140043" cy="121255"/>
          </a:xfrm>
          <a:prstGeom prst="ellipse">
            <a:avLst/>
          </a:prstGeom>
          <a:solidFill>
            <a:srgbClr val="FF0000"/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2" name="Ellipse 111">
            <a:extLst>
              <a:ext uri="{FF2B5EF4-FFF2-40B4-BE49-F238E27FC236}">
                <a16:creationId xmlns:a16="http://schemas.microsoft.com/office/drawing/2014/main" id="{E72B86E1-BF89-8F72-5362-05596E50D46B}"/>
              </a:ext>
            </a:extLst>
          </p:cNvPr>
          <p:cNvSpPr/>
          <p:nvPr/>
        </p:nvSpPr>
        <p:spPr>
          <a:xfrm>
            <a:off x="5906156" y="1576938"/>
            <a:ext cx="140043" cy="121255"/>
          </a:xfrm>
          <a:prstGeom prst="ellipse">
            <a:avLst/>
          </a:prstGeom>
          <a:solidFill>
            <a:srgbClr val="FF0000"/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3" name="Ellipse 112">
            <a:extLst>
              <a:ext uri="{FF2B5EF4-FFF2-40B4-BE49-F238E27FC236}">
                <a16:creationId xmlns:a16="http://schemas.microsoft.com/office/drawing/2014/main" id="{D873424D-2217-0404-78CB-97134802BF26}"/>
              </a:ext>
            </a:extLst>
          </p:cNvPr>
          <p:cNvSpPr/>
          <p:nvPr/>
        </p:nvSpPr>
        <p:spPr>
          <a:xfrm>
            <a:off x="10278169" y="765396"/>
            <a:ext cx="140043" cy="121255"/>
          </a:xfrm>
          <a:prstGeom prst="ellipse">
            <a:avLst/>
          </a:prstGeom>
          <a:solidFill>
            <a:srgbClr val="0070C0"/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feld 113">
            <a:extLst>
              <a:ext uri="{FF2B5EF4-FFF2-40B4-BE49-F238E27FC236}">
                <a16:creationId xmlns:a16="http://schemas.microsoft.com/office/drawing/2014/main" id="{6B28845D-8688-E19F-71F7-955E1D205196}"/>
              </a:ext>
            </a:extLst>
          </p:cNvPr>
          <p:cNvSpPr txBox="1"/>
          <p:nvPr/>
        </p:nvSpPr>
        <p:spPr>
          <a:xfrm>
            <a:off x="10415782" y="695589"/>
            <a:ext cx="8082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/>
              <a:t>constraint</a:t>
            </a:r>
          </a:p>
        </p:txBody>
      </p:sp>
      <p:sp>
        <p:nvSpPr>
          <p:cNvPr id="115" name="Ellipse 114">
            <a:extLst>
              <a:ext uri="{FF2B5EF4-FFF2-40B4-BE49-F238E27FC236}">
                <a16:creationId xmlns:a16="http://schemas.microsoft.com/office/drawing/2014/main" id="{65D54BA5-2CCB-3E38-BF32-947F95D4526A}"/>
              </a:ext>
            </a:extLst>
          </p:cNvPr>
          <p:cNvSpPr/>
          <p:nvPr/>
        </p:nvSpPr>
        <p:spPr>
          <a:xfrm>
            <a:off x="228126" y="5833130"/>
            <a:ext cx="140043" cy="121255"/>
          </a:xfrm>
          <a:prstGeom prst="ellipse">
            <a:avLst/>
          </a:prstGeom>
          <a:solidFill>
            <a:srgbClr val="0070C0"/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6" name="Ellipse 115">
            <a:extLst>
              <a:ext uri="{FF2B5EF4-FFF2-40B4-BE49-F238E27FC236}">
                <a16:creationId xmlns:a16="http://schemas.microsoft.com/office/drawing/2014/main" id="{DBF9DC15-987E-6A1E-E085-5C1678E7FAF5}"/>
              </a:ext>
            </a:extLst>
          </p:cNvPr>
          <p:cNvSpPr/>
          <p:nvPr/>
        </p:nvSpPr>
        <p:spPr>
          <a:xfrm>
            <a:off x="10278169" y="962026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7" name="Textfeld 116">
            <a:extLst>
              <a:ext uri="{FF2B5EF4-FFF2-40B4-BE49-F238E27FC236}">
                <a16:creationId xmlns:a16="http://schemas.microsoft.com/office/drawing/2014/main" id="{6A12FBB7-5B44-BEB5-3DFB-354CE0A0F9FD}"/>
              </a:ext>
            </a:extLst>
          </p:cNvPr>
          <p:cNvSpPr txBox="1"/>
          <p:nvPr/>
        </p:nvSpPr>
        <p:spPr>
          <a:xfrm>
            <a:off x="10397719" y="895085"/>
            <a:ext cx="10647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/>
              <a:t>Functional req</a:t>
            </a:r>
          </a:p>
        </p:txBody>
      </p:sp>
      <p:sp>
        <p:nvSpPr>
          <p:cNvPr id="118" name="Ellipse 117">
            <a:extLst>
              <a:ext uri="{FF2B5EF4-FFF2-40B4-BE49-F238E27FC236}">
                <a16:creationId xmlns:a16="http://schemas.microsoft.com/office/drawing/2014/main" id="{ECCBDCBA-3E9F-C4FA-ED37-58366640AAA9}"/>
              </a:ext>
            </a:extLst>
          </p:cNvPr>
          <p:cNvSpPr/>
          <p:nvPr/>
        </p:nvSpPr>
        <p:spPr>
          <a:xfrm>
            <a:off x="6127172" y="5174689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9" name="Ellipse 118">
            <a:extLst>
              <a:ext uri="{FF2B5EF4-FFF2-40B4-BE49-F238E27FC236}">
                <a16:creationId xmlns:a16="http://schemas.microsoft.com/office/drawing/2014/main" id="{4754912D-A7BF-8460-690D-32F751820841}"/>
              </a:ext>
            </a:extLst>
          </p:cNvPr>
          <p:cNvSpPr/>
          <p:nvPr/>
        </p:nvSpPr>
        <p:spPr>
          <a:xfrm>
            <a:off x="5619305" y="2978912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0" name="Ellipse 119">
            <a:extLst>
              <a:ext uri="{FF2B5EF4-FFF2-40B4-BE49-F238E27FC236}">
                <a16:creationId xmlns:a16="http://schemas.microsoft.com/office/drawing/2014/main" id="{A007FE8C-D0A9-7954-EAA8-D7E7E8A117C5}"/>
              </a:ext>
            </a:extLst>
          </p:cNvPr>
          <p:cNvSpPr/>
          <p:nvPr/>
        </p:nvSpPr>
        <p:spPr>
          <a:xfrm>
            <a:off x="8234543" y="5505328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C46D3A11-213F-7C31-BF5A-DBB0B150362F}"/>
              </a:ext>
            </a:extLst>
          </p:cNvPr>
          <p:cNvSpPr/>
          <p:nvPr/>
        </p:nvSpPr>
        <p:spPr>
          <a:xfrm>
            <a:off x="8221328" y="5327445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CD3E56BA-9B6D-D320-23AF-57B1169F4778}"/>
              </a:ext>
            </a:extLst>
          </p:cNvPr>
          <p:cNvSpPr/>
          <p:nvPr/>
        </p:nvSpPr>
        <p:spPr>
          <a:xfrm>
            <a:off x="9640745" y="3093599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34ED2D30-6DC7-598B-19F4-DB63EFC96317}"/>
              </a:ext>
            </a:extLst>
          </p:cNvPr>
          <p:cNvSpPr/>
          <p:nvPr/>
        </p:nvSpPr>
        <p:spPr>
          <a:xfrm>
            <a:off x="7625532" y="3265365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4" name="Ellipse 123">
            <a:extLst>
              <a:ext uri="{FF2B5EF4-FFF2-40B4-BE49-F238E27FC236}">
                <a16:creationId xmlns:a16="http://schemas.microsoft.com/office/drawing/2014/main" id="{201F17AD-E289-D3E1-8FF8-861E01995AA4}"/>
              </a:ext>
            </a:extLst>
          </p:cNvPr>
          <p:cNvSpPr/>
          <p:nvPr/>
        </p:nvSpPr>
        <p:spPr>
          <a:xfrm>
            <a:off x="3888041" y="4784411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BC1650D7-36F0-28FE-BE62-70BCC5D40746}"/>
              </a:ext>
            </a:extLst>
          </p:cNvPr>
          <p:cNvSpPr/>
          <p:nvPr/>
        </p:nvSpPr>
        <p:spPr>
          <a:xfrm>
            <a:off x="3926193" y="5766105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8" name="Ellipse 127">
            <a:extLst>
              <a:ext uri="{FF2B5EF4-FFF2-40B4-BE49-F238E27FC236}">
                <a16:creationId xmlns:a16="http://schemas.microsoft.com/office/drawing/2014/main" id="{1245067D-67AA-84F9-8ADF-00EC0102AF65}"/>
              </a:ext>
            </a:extLst>
          </p:cNvPr>
          <p:cNvSpPr/>
          <p:nvPr/>
        </p:nvSpPr>
        <p:spPr>
          <a:xfrm>
            <a:off x="3490460" y="771346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9" name="Ellipse 128">
            <a:extLst>
              <a:ext uri="{FF2B5EF4-FFF2-40B4-BE49-F238E27FC236}">
                <a16:creationId xmlns:a16="http://schemas.microsoft.com/office/drawing/2014/main" id="{8B03CA96-9A35-E5BE-188A-0A591D4F8340}"/>
              </a:ext>
            </a:extLst>
          </p:cNvPr>
          <p:cNvSpPr/>
          <p:nvPr/>
        </p:nvSpPr>
        <p:spPr>
          <a:xfrm>
            <a:off x="3530330" y="183731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0" name="Ellipse 129">
            <a:extLst>
              <a:ext uri="{FF2B5EF4-FFF2-40B4-BE49-F238E27FC236}">
                <a16:creationId xmlns:a16="http://schemas.microsoft.com/office/drawing/2014/main" id="{DB24AACD-E1B2-410D-FF3C-ADAD483438F0}"/>
              </a:ext>
            </a:extLst>
          </p:cNvPr>
          <p:cNvSpPr/>
          <p:nvPr/>
        </p:nvSpPr>
        <p:spPr>
          <a:xfrm>
            <a:off x="3530330" y="374109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1" name="Ellipse 130">
            <a:extLst>
              <a:ext uri="{FF2B5EF4-FFF2-40B4-BE49-F238E27FC236}">
                <a16:creationId xmlns:a16="http://schemas.microsoft.com/office/drawing/2014/main" id="{272D41F2-C436-23D2-0CFA-2C3D24B25642}"/>
              </a:ext>
            </a:extLst>
          </p:cNvPr>
          <p:cNvSpPr/>
          <p:nvPr/>
        </p:nvSpPr>
        <p:spPr>
          <a:xfrm>
            <a:off x="3530330" y="591482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2" name="Ellipse 131">
            <a:extLst>
              <a:ext uri="{FF2B5EF4-FFF2-40B4-BE49-F238E27FC236}">
                <a16:creationId xmlns:a16="http://schemas.microsoft.com/office/drawing/2014/main" id="{4B4C74E9-C792-31FF-5CB5-EF8A34650116}"/>
              </a:ext>
            </a:extLst>
          </p:cNvPr>
          <p:cNvSpPr/>
          <p:nvPr/>
        </p:nvSpPr>
        <p:spPr>
          <a:xfrm>
            <a:off x="3862838" y="1563500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3" name="Ellipse 132">
            <a:extLst>
              <a:ext uri="{FF2B5EF4-FFF2-40B4-BE49-F238E27FC236}">
                <a16:creationId xmlns:a16="http://schemas.microsoft.com/office/drawing/2014/main" id="{5C3116FF-7DC4-9B04-D7B3-84C09A723A91}"/>
              </a:ext>
            </a:extLst>
          </p:cNvPr>
          <p:cNvSpPr/>
          <p:nvPr/>
        </p:nvSpPr>
        <p:spPr>
          <a:xfrm>
            <a:off x="3862838" y="1849959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4" name="Ellipse 133">
            <a:extLst>
              <a:ext uri="{FF2B5EF4-FFF2-40B4-BE49-F238E27FC236}">
                <a16:creationId xmlns:a16="http://schemas.microsoft.com/office/drawing/2014/main" id="{8DFEF423-BDA5-111C-6DDE-EEE6F6E80823}"/>
              </a:ext>
            </a:extLst>
          </p:cNvPr>
          <p:cNvSpPr/>
          <p:nvPr/>
        </p:nvSpPr>
        <p:spPr>
          <a:xfrm>
            <a:off x="3772535" y="2336186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5" name="Ellipse 134">
            <a:extLst>
              <a:ext uri="{FF2B5EF4-FFF2-40B4-BE49-F238E27FC236}">
                <a16:creationId xmlns:a16="http://schemas.microsoft.com/office/drawing/2014/main" id="{A10CFBF2-27DC-88B0-8669-5C2ED3D1EB49}"/>
              </a:ext>
            </a:extLst>
          </p:cNvPr>
          <p:cNvSpPr/>
          <p:nvPr/>
        </p:nvSpPr>
        <p:spPr>
          <a:xfrm>
            <a:off x="3798466" y="2591331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6" name="Ellipse 135">
            <a:extLst>
              <a:ext uri="{FF2B5EF4-FFF2-40B4-BE49-F238E27FC236}">
                <a16:creationId xmlns:a16="http://schemas.microsoft.com/office/drawing/2014/main" id="{C84EEE9E-150B-8305-A8AE-6C89F87F6825}"/>
              </a:ext>
            </a:extLst>
          </p:cNvPr>
          <p:cNvSpPr/>
          <p:nvPr/>
        </p:nvSpPr>
        <p:spPr>
          <a:xfrm>
            <a:off x="5603959" y="2355484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7" name="Ellipse 136">
            <a:extLst>
              <a:ext uri="{FF2B5EF4-FFF2-40B4-BE49-F238E27FC236}">
                <a16:creationId xmlns:a16="http://schemas.microsoft.com/office/drawing/2014/main" id="{205BD0BC-B8A2-5B45-E830-537DC4DBFF7A}"/>
              </a:ext>
            </a:extLst>
          </p:cNvPr>
          <p:cNvSpPr/>
          <p:nvPr/>
        </p:nvSpPr>
        <p:spPr>
          <a:xfrm>
            <a:off x="7611025" y="2982656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9" name="Ellipse 138">
            <a:extLst>
              <a:ext uri="{FF2B5EF4-FFF2-40B4-BE49-F238E27FC236}">
                <a16:creationId xmlns:a16="http://schemas.microsoft.com/office/drawing/2014/main" id="{948BC1FA-6D19-E9DF-688D-B6C9D5E7C6A1}"/>
              </a:ext>
            </a:extLst>
          </p:cNvPr>
          <p:cNvSpPr/>
          <p:nvPr/>
        </p:nvSpPr>
        <p:spPr>
          <a:xfrm>
            <a:off x="1968510" y="1258294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0" name="Ellipse 139">
            <a:extLst>
              <a:ext uri="{FF2B5EF4-FFF2-40B4-BE49-F238E27FC236}">
                <a16:creationId xmlns:a16="http://schemas.microsoft.com/office/drawing/2014/main" id="{23506C14-055A-B3AC-F1F7-986FEFF92C22}"/>
              </a:ext>
            </a:extLst>
          </p:cNvPr>
          <p:cNvSpPr/>
          <p:nvPr/>
        </p:nvSpPr>
        <p:spPr>
          <a:xfrm>
            <a:off x="6139147" y="5432689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2" name="Rechteck: abgerundete Ecken 71">
            <a:extLst>
              <a:ext uri="{FF2B5EF4-FFF2-40B4-BE49-F238E27FC236}">
                <a16:creationId xmlns:a16="http://schemas.microsoft.com/office/drawing/2014/main" id="{D51AFF68-2D5F-7319-C3D9-D2B50FDF16CC}"/>
              </a:ext>
            </a:extLst>
          </p:cNvPr>
          <p:cNvSpPr/>
          <p:nvPr/>
        </p:nvSpPr>
        <p:spPr>
          <a:xfrm>
            <a:off x="101497" y="1327044"/>
            <a:ext cx="1609656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2: Job Manager Transactions</a:t>
            </a:r>
          </a:p>
        </p:txBody>
      </p:sp>
      <p:sp>
        <p:nvSpPr>
          <p:cNvPr id="75" name="Rechteck: abgerundete Ecken 74">
            <a:extLst>
              <a:ext uri="{FF2B5EF4-FFF2-40B4-BE49-F238E27FC236}">
                <a16:creationId xmlns:a16="http://schemas.microsoft.com/office/drawing/2014/main" id="{BD5D20FC-8285-B29E-D67D-544683457DFA}"/>
              </a:ext>
            </a:extLst>
          </p:cNvPr>
          <p:cNvSpPr/>
          <p:nvPr/>
        </p:nvSpPr>
        <p:spPr>
          <a:xfrm>
            <a:off x="5531901" y="874304"/>
            <a:ext cx="844184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3: Logging</a:t>
            </a:r>
          </a:p>
        </p:txBody>
      </p:sp>
      <p:sp>
        <p:nvSpPr>
          <p:cNvPr id="76" name="Rechteck: abgerundete Ecken 75">
            <a:extLst>
              <a:ext uri="{FF2B5EF4-FFF2-40B4-BE49-F238E27FC236}">
                <a16:creationId xmlns:a16="http://schemas.microsoft.com/office/drawing/2014/main" id="{AA861A61-FBB2-DD1F-8755-1277D5AA7621}"/>
              </a:ext>
            </a:extLst>
          </p:cNvPr>
          <p:cNvSpPr/>
          <p:nvPr/>
        </p:nvSpPr>
        <p:spPr>
          <a:xfrm>
            <a:off x="2376597" y="2565499"/>
            <a:ext cx="958484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4: Schedulers</a:t>
            </a:r>
          </a:p>
        </p:txBody>
      </p: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09570CC1-75A3-1BF1-28BA-8E51C789F4F4}"/>
              </a:ext>
            </a:extLst>
          </p:cNvPr>
          <p:cNvSpPr/>
          <p:nvPr/>
        </p:nvSpPr>
        <p:spPr>
          <a:xfrm>
            <a:off x="101496" y="1543866"/>
            <a:ext cx="1609656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5: Job Duplicate Entry check</a:t>
            </a:r>
          </a:p>
        </p:txBody>
      </p:sp>
      <p:sp>
        <p:nvSpPr>
          <p:cNvPr id="78" name="Rechteck: abgerundete Ecken 77">
            <a:extLst>
              <a:ext uri="{FF2B5EF4-FFF2-40B4-BE49-F238E27FC236}">
                <a16:creationId xmlns:a16="http://schemas.microsoft.com/office/drawing/2014/main" id="{5F517023-B652-01ED-52BE-A1C050FF50D9}"/>
              </a:ext>
            </a:extLst>
          </p:cNvPr>
          <p:cNvSpPr/>
          <p:nvPr/>
        </p:nvSpPr>
        <p:spPr>
          <a:xfrm>
            <a:off x="101496" y="1750845"/>
            <a:ext cx="1609656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6: Job Manager</a:t>
            </a:r>
          </a:p>
        </p:txBody>
      </p:sp>
      <p:sp>
        <p:nvSpPr>
          <p:cNvPr id="79" name="Rechteck: abgerundete Ecken 78">
            <a:extLst>
              <a:ext uri="{FF2B5EF4-FFF2-40B4-BE49-F238E27FC236}">
                <a16:creationId xmlns:a16="http://schemas.microsoft.com/office/drawing/2014/main" id="{EB216DE3-A9F7-7F04-C761-DC95FD5D2C13}"/>
              </a:ext>
            </a:extLst>
          </p:cNvPr>
          <p:cNvSpPr/>
          <p:nvPr/>
        </p:nvSpPr>
        <p:spPr>
          <a:xfrm>
            <a:off x="101497" y="1957650"/>
            <a:ext cx="1609656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7: Parsing FileUpload Content</a:t>
            </a:r>
          </a:p>
        </p:txBody>
      </p:sp>
      <p:sp>
        <p:nvSpPr>
          <p:cNvPr id="80" name="Rechteck: abgerundete Ecken 79">
            <a:extLst>
              <a:ext uri="{FF2B5EF4-FFF2-40B4-BE49-F238E27FC236}">
                <a16:creationId xmlns:a16="http://schemas.microsoft.com/office/drawing/2014/main" id="{580558E4-1B42-6B96-39B8-09A137F3CE14}"/>
              </a:ext>
            </a:extLst>
          </p:cNvPr>
          <p:cNvSpPr/>
          <p:nvPr/>
        </p:nvSpPr>
        <p:spPr>
          <a:xfrm>
            <a:off x="101497" y="2167879"/>
            <a:ext cx="1609656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8: Process PostReq from UI</a:t>
            </a:r>
          </a:p>
        </p:txBody>
      </p:sp>
      <p:sp>
        <p:nvSpPr>
          <p:cNvPr id="81" name="Rechteck: abgerundete Ecken 80">
            <a:extLst>
              <a:ext uri="{FF2B5EF4-FFF2-40B4-BE49-F238E27FC236}">
                <a16:creationId xmlns:a16="http://schemas.microsoft.com/office/drawing/2014/main" id="{6B96A012-6B07-53B3-C8C9-4A2A6083F20F}"/>
              </a:ext>
            </a:extLst>
          </p:cNvPr>
          <p:cNvSpPr/>
          <p:nvPr/>
        </p:nvSpPr>
        <p:spPr>
          <a:xfrm>
            <a:off x="5536216" y="127921"/>
            <a:ext cx="1609656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9: FileManager Interface</a:t>
            </a:r>
          </a:p>
        </p:txBody>
      </p:sp>
      <p:sp>
        <p:nvSpPr>
          <p:cNvPr id="82" name="Rechteck: abgerundete Ecken 81">
            <a:extLst>
              <a:ext uri="{FF2B5EF4-FFF2-40B4-BE49-F238E27FC236}">
                <a16:creationId xmlns:a16="http://schemas.microsoft.com/office/drawing/2014/main" id="{7D93CC75-8B53-2047-46DD-C323BF9BA50E}"/>
              </a:ext>
            </a:extLst>
          </p:cNvPr>
          <p:cNvSpPr/>
          <p:nvPr/>
        </p:nvSpPr>
        <p:spPr>
          <a:xfrm>
            <a:off x="5532303" y="339401"/>
            <a:ext cx="1609656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00">
                <a:solidFill>
                  <a:schemeClr val="tx1"/>
                </a:solidFill>
              </a:rPr>
              <a:t>10: Software Repository</a:t>
            </a:r>
          </a:p>
        </p:txBody>
      </p:sp>
      <p:sp>
        <p:nvSpPr>
          <p:cNvPr id="85" name="Rechteck: abgerundete Ecken 84">
            <a:extLst>
              <a:ext uri="{FF2B5EF4-FFF2-40B4-BE49-F238E27FC236}">
                <a16:creationId xmlns:a16="http://schemas.microsoft.com/office/drawing/2014/main" id="{A308E6FD-3B97-87DC-012C-22A0661038A8}"/>
              </a:ext>
            </a:extLst>
          </p:cNvPr>
          <p:cNvSpPr/>
          <p:nvPr/>
        </p:nvSpPr>
        <p:spPr>
          <a:xfrm>
            <a:off x="5528422" y="547091"/>
            <a:ext cx="1882067" cy="18944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11: Software Repository Maintenance</a:t>
            </a:r>
          </a:p>
        </p:txBody>
      </p: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6849170D-3ED3-1F1C-4550-AF00EFC5C368}"/>
              </a:ext>
            </a:extLst>
          </p:cNvPr>
          <p:cNvCxnSpPr>
            <a:stCxn id="22" idx="3"/>
            <a:endCxn id="81" idx="1"/>
          </p:cNvCxnSpPr>
          <p:nvPr/>
        </p:nvCxnSpPr>
        <p:spPr>
          <a:xfrm flipV="1">
            <a:off x="5210845" y="222644"/>
            <a:ext cx="325371" cy="215978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Gerader Verbinder 87">
            <a:extLst>
              <a:ext uri="{FF2B5EF4-FFF2-40B4-BE49-F238E27FC236}">
                <a16:creationId xmlns:a16="http://schemas.microsoft.com/office/drawing/2014/main" id="{B7F0EC99-457C-1564-D968-1FC74B844FED}"/>
              </a:ext>
            </a:extLst>
          </p:cNvPr>
          <p:cNvCxnSpPr>
            <a:cxnSpLocks/>
            <a:stCxn id="22" idx="3"/>
            <a:endCxn id="82" idx="1"/>
          </p:cNvCxnSpPr>
          <p:nvPr/>
        </p:nvCxnSpPr>
        <p:spPr>
          <a:xfrm flipV="1">
            <a:off x="5210845" y="434124"/>
            <a:ext cx="321458" cy="4498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25A8DCFD-5565-FDC4-22E9-832A1CB29844}"/>
              </a:ext>
            </a:extLst>
          </p:cNvPr>
          <p:cNvCxnSpPr>
            <a:cxnSpLocks/>
            <a:stCxn id="22" idx="3"/>
            <a:endCxn id="85" idx="1"/>
          </p:cNvCxnSpPr>
          <p:nvPr/>
        </p:nvCxnSpPr>
        <p:spPr>
          <a:xfrm>
            <a:off x="5210845" y="438622"/>
            <a:ext cx="317577" cy="203192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7230EB22-BCEC-3AE4-103A-B62709EED429}"/>
              </a:ext>
            </a:extLst>
          </p:cNvPr>
          <p:cNvCxnSpPr>
            <a:cxnSpLocks/>
            <a:stCxn id="80" idx="3"/>
            <a:endCxn id="10" idx="1"/>
          </p:cNvCxnSpPr>
          <p:nvPr/>
        </p:nvCxnSpPr>
        <p:spPr>
          <a:xfrm flipV="1">
            <a:off x="1711153" y="1874983"/>
            <a:ext cx="349564" cy="387619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42CC933-136E-DBEB-93A9-0597A142B2EC}"/>
              </a:ext>
            </a:extLst>
          </p:cNvPr>
          <p:cNvCxnSpPr>
            <a:cxnSpLocks/>
            <a:stCxn id="79" idx="3"/>
            <a:endCxn id="10" idx="1"/>
          </p:cNvCxnSpPr>
          <p:nvPr/>
        </p:nvCxnSpPr>
        <p:spPr>
          <a:xfrm flipV="1">
            <a:off x="1711153" y="1874983"/>
            <a:ext cx="349564" cy="17739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Gerader Verbinder 143">
            <a:extLst>
              <a:ext uri="{FF2B5EF4-FFF2-40B4-BE49-F238E27FC236}">
                <a16:creationId xmlns:a16="http://schemas.microsoft.com/office/drawing/2014/main" id="{2CAF4617-F208-1CAE-9E78-24711AFF5C89}"/>
              </a:ext>
            </a:extLst>
          </p:cNvPr>
          <p:cNvCxnSpPr>
            <a:cxnSpLocks/>
            <a:stCxn id="78" idx="3"/>
            <a:endCxn id="10" idx="1"/>
          </p:cNvCxnSpPr>
          <p:nvPr/>
        </p:nvCxnSpPr>
        <p:spPr>
          <a:xfrm>
            <a:off x="1711152" y="1845568"/>
            <a:ext cx="349565" cy="29415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CD90464F-109B-C283-63D8-369A67E61F8E}"/>
              </a:ext>
            </a:extLst>
          </p:cNvPr>
          <p:cNvCxnSpPr>
            <a:cxnSpLocks/>
            <a:stCxn id="77" idx="3"/>
            <a:endCxn id="10" idx="1"/>
          </p:cNvCxnSpPr>
          <p:nvPr/>
        </p:nvCxnSpPr>
        <p:spPr>
          <a:xfrm>
            <a:off x="1711152" y="1638589"/>
            <a:ext cx="349565" cy="236394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Gerader Verbinder 158">
            <a:extLst>
              <a:ext uri="{FF2B5EF4-FFF2-40B4-BE49-F238E27FC236}">
                <a16:creationId xmlns:a16="http://schemas.microsoft.com/office/drawing/2014/main" id="{12A4A5D8-C975-9B8E-8694-E00C0D9A4892}"/>
              </a:ext>
            </a:extLst>
          </p:cNvPr>
          <p:cNvCxnSpPr>
            <a:cxnSpLocks/>
            <a:stCxn id="22" idx="3"/>
            <a:endCxn id="75" idx="1"/>
          </p:cNvCxnSpPr>
          <p:nvPr/>
        </p:nvCxnSpPr>
        <p:spPr>
          <a:xfrm>
            <a:off x="5210845" y="438622"/>
            <a:ext cx="321056" cy="530405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r Verbinder 162">
            <a:extLst>
              <a:ext uri="{FF2B5EF4-FFF2-40B4-BE49-F238E27FC236}">
                <a16:creationId xmlns:a16="http://schemas.microsoft.com/office/drawing/2014/main" id="{FBD5D091-4CCC-5296-C4DF-A69FDA6CABBF}"/>
              </a:ext>
            </a:extLst>
          </p:cNvPr>
          <p:cNvCxnSpPr>
            <a:cxnSpLocks/>
            <a:stCxn id="30" idx="3"/>
            <a:endCxn id="75" idx="1"/>
          </p:cNvCxnSpPr>
          <p:nvPr/>
        </p:nvCxnSpPr>
        <p:spPr>
          <a:xfrm>
            <a:off x="5210845" y="861909"/>
            <a:ext cx="321056" cy="107118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r Verbinder 165">
            <a:extLst>
              <a:ext uri="{FF2B5EF4-FFF2-40B4-BE49-F238E27FC236}">
                <a16:creationId xmlns:a16="http://schemas.microsoft.com/office/drawing/2014/main" id="{D151D4E9-1F13-2316-8023-56ACF7806240}"/>
              </a:ext>
            </a:extLst>
          </p:cNvPr>
          <p:cNvCxnSpPr>
            <a:cxnSpLocks/>
            <a:stCxn id="10" idx="1"/>
            <a:endCxn id="72" idx="3"/>
          </p:cNvCxnSpPr>
          <p:nvPr/>
        </p:nvCxnSpPr>
        <p:spPr>
          <a:xfrm flipH="1" flipV="1">
            <a:off x="1711153" y="1421767"/>
            <a:ext cx="349564" cy="453216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Ellipse 137">
            <a:extLst>
              <a:ext uri="{FF2B5EF4-FFF2-40B4-BE49-F238E27FC236}">
                <a16:creationId xmlns:a16="http://schemas.microsoft.com/office/drawing/2014/main" id="{466BD2B6-5D2C-F668-1B72-A8EBAE8BCE01}"/>
              </a:ext>
            </a:extLst>
          </p:cNvPr>
          <p:cNvSpPr/>
          <p:nvPr/>
        </p:nvSpPr>
        <p:spPr>
          <a:xfrm>
            <a:off x="1980297" y="1824716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Rechteck: abgerundete Ecken 72">
            <a:extLst>
              <a:ext uri="{FF2B5EF4-FFF2-40B4-BE49-F238E27FC236}">
                <a16:creationId xmlns:a16="http://schemas.microsoft.com/office/drawing/2014/main" id="{A51F8400-835E-0C7E-0BB7-D767E65185A0}"/>
              </a:ext>
            </a:extLst>
          </p:cNvPr>
          <p:cNvSpPr/>
          <p:nvPr/>
        </p:nvSpPr>
        <p:spPr>
          <a:xfrm>
            <a:off x="3833829" y="2961515"/>
            <a:ext cx="1609656" cy="200234"/>
          </a:xfrm>
          <a:prstGeom prst="roundRect">
            <a:avLst/>
          </a:prstGeom>
          <a:gradFill flip="none" rotWithShape="1">
            <a:gsLst>
              <a:gs pos="0">
                <a:srgbClr val="FFFFCC"/>
              </a:gs>
              <a:gs pos="100000">
                <a:srgbClr val="FFC000"/>
              </a:gs>
            </a:gsLst>
            <a:lin ang="2700000" scaled="1"/>
            <a:tileRect/>
          </a:gra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40: rollback/forced installation </a:t>
            </a:r>
          </a:p>
        </p:txBody>
      </p:sp>
      <p:sp>
        <p:nvSpPr>
          <p:cNvPr id="86" name="Rechteck: abgerundete Ecken 85">
            <a:extLst>
              <a:ext uri="{FF2B5EF4-FFF2-40B4-BE49-F238E27FC236}">
                <a16:creationId xmlns:a16="http://schemas.microsoft.com/office/drawing/2014/main" id="{CC6FE538-33B2-E090-0777-B591A0CAF310}"/>
              </a:ext>
            </a:extLst>
          </p:cNvPr>
          <p:cNvSpPr/>
          <p:nvPr/>
        </p:nvSpPr>
        <p:spPr>
          <a:xfrm>
            <a:off x="6096000" y="1155621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49: FW checksum validation</a:t>
            </a:r>
          </a:p>
        </p:txBody>
      </p:sp>
      <p:sp>
        <p:nvSpPr>
          <p:cNvPr id="89" name="Rechteck: abgerundete Ecken 88">
            <a:extLst>
              <a:ext uri="{FF2B5EF4-FFF2-40B4-BE49-F238E27FC236}">
                <a16:creationId xmlns:a16="http://schemas.microsoft.com/office/drawing/2014/main" id="{686D8925-DAC3-E900-BB54-595B17A4E4EB}"/>
              </a:ext>
            </a:extLst>
          </p:cNvPr>
          <p:cNvSpPr/>
          <p:nvPr/>
        </p:nvSpPr>
        <p:spPr>
          <a:xfrm>
            <a:off x="3833829" y="3764769"/>
            <a:ext cx="1609656" cy="280753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51: handling service affecting activation</a:t>
            </a:r>
          </a:p>
        </p:txBody>
      </p:sp>
      <p:sp>
        <p:nvSpPr>
          <p:cNvPr id="90" name="Rechteck: abgerundete Ecken 89">
            <a:extLst>
              <a:ext uri="{FF2B5EF4-FFF2-40B4-BE49-F238E27FC236}">
                <a16:creationId xmlns:a16="http://schemas.microsoft.com/office/drawing/2014/main" id="{0490FEA3-70D8-A13B-6F62-F53B053FBEA2}"/>
              </a:ext>
            </a:extLst>
          </p:cNvPr>
          <p:cNvSpPr/>
          <p:nvPr/>
        </p:nvSpPr>
        <p:spPr>
          <a:xfrm>
            <a:off x="3868724" y="3205519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50: topology awareness</a:t>
            </a:r>
          </a:p>
        </p:txBody>
      </p:sp>
      <p:sp>
        <p:nvSpPr>
          <p:cNvPr id="92" name="Rechteck: abgerundete Ecken 91">
            <a:extLst>
              <a:ext uri="{FF2B5EF4-FFF2-40B4-BE49-F238E27FC236}">
                <a16:creationId xmlns:a16="http://schemas.microsoft.com/office/drawing/2014/main" id="{B1A52ABA-B5BE-636B-D8A3-163A34569DF6}"/>
              </a:ext>
            </a:extLst>
          </p:cNvPr>
          <p:cNvSpPr/>
          <p:nvPr/>
        </p:nvSpPr>
        <p:spPr>
          <a:xfrm>
            <a:off x="3868724" y="3500292"/>
            <a:ext cx="1609656" cy="200234"/>
          </a:xfrm>
          <a:prstGeom prst="roundRect">
            <a:avLst/>
          </a:prstGeom>
          <a:solidFill>
            <a:srgbClr val="FFFFC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800">
                <a:solidFill>
                  <a:schemeClr val="tx1"/>
                </a:solidFill>
              </a:rPr>
              <a:t>52: required reboot handling</a:t>
            </a:r>
          </a:p>
        </p:txBody>
      </p:sp>
      <p:sp>
        <p:nvSpPr>
          <p:cNvPr id="93" name="Ellipse 92">
            <a:extLst>
              <a:ext uri="{FF2B5EF4-FFF2-40B4-BE49-F238E27FC236}">
                <a16:creationId xmlns:a16="http://schemas.microsoft.com/office/drawing/2014/main" id="{8C4562F7-5275-AC74-2C7D-45D401BD17E2}"/>
              </a:ext>
            </a:extLst>
          </p:cNvPr>
          <p:cNvSpPr/>
          <p:nvPr/>
        </p:nvSpPr>
        <p:spPr>
          <a:xfrm>
            <a:off x="3755638" y="2999821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5" name="Ellipse 94">
            <a:extLst>
              <a:ext uri="{FF2B5EF4-FFF2-40B4-BE49-F238E27FC236}">
                <a16:creationId xmlns:a16="http://schemas.microsoft.com/office/drawing/2014/main" id="{FBA395CF-DFC5-1AAE-1BA8-70627307D584}"/>
              </a:ext>
            </a:extLst>
          </p:cNvPr>
          <p:cNvSpPr/>
          <p:nvPr/>
        </p:nvSpPr>
        <p:spPr>
          <a:xfrm>
            <a:off x="5999518" y="1195395"/>
            <a:ext cx="140043" cy="121255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54A05C75-861B-BDE4-AD68-317239A3CC2E}"/>
              </a:ext>
            </a:extLst>
          </p:cNvPr>
          <p:cNvSpPr/>
          <p:nvPr/>
        </p:nvSpPr>
        <p:spPr>
          <a:xfrm>
            <a:off x="3790361" y="3240720"/>
            <a:ext cx="140043" cy="121255"/>
          </a:xfrm>
          <a:prstGeom prst="ellipse">
            <a:avLst/>
          </a:prstGeom>
          <a:solidFill>
            <a:srgbClr val="FF0000"/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3D8FD181-86CE-AFD4-6D3C-343B22BCBD56}"/>
              </a:ext>
            </a:extLst>
          </p:cNvPr>
          <p:cNvSpPr/>
          <p:nvPr/>
        </p:nvSpPr>
        <p:spPr>
          <a:xfrm>
            <a:off x="3790361" y="3523234"/>
            <a:ext cx="140043" cy="121255"/>
          </a:xfrm>
          <a:prstGeom prst="ellipse">
            <a:avLst/>
          </a:prstGeom>
          <a:solidFill>
            <a:srgbClr val="FF0000"/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Ellipse 98">
            <a:extLst>
              <a:ext uri="{FF2B5EF4-FFF2-40B4-BE49-F238E27FC236}">
                <a16:creationId xmlns:a16="http://schemas.microsoft.com/office/drawing/2014/main" id="{5AF1AD96-66B2-0380-B93F-08B1B43C8356}"/>
              </a:ext>
            </a:extLst>
          </p:cNvPr>
          <p:cNvSpPr/>
          <p:nvPr/>
        </p:nvSpPr>
        <p:spPr>
          <a:xfrm>
            <a:off x="3790361" y="3853075"/>
            <a:ext cx="140043" cy="121255"/>
          </a:xfrm>
          <a:prstGeom prst="ellipse">
            <a:avLst/>
          </a:prstGeom>
          <a:solidFill>
            <a:srgbClr val="FF0000"/>
          </a:solidFill>
          <a:ln w="12700"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0" name="Rechteck 159">
            <a:extLst>
              <a:ext uri="{FF2B5EF4-FFF2-40B4-BE49-F238E27FC236}">
                <a16:creationId xmlns:a16="http://schemas.microsoft.com/office/drawing/2014/main" id="{BC941241-118A-6F81-391E-B5451DF1D8F0}"/>
              </a:ext>
            </a:extLst>
          </p:cNvPr>
          <p:cNvSpPr/>
          <p:nvPr/>
        </p:nvSpPr>
        <p:spPr>
          <a:xfrm>
            <a:off x="3692087" y="2902705"/>
            <a:ext cx="1844130" cy="1191004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4697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ced55a7-e3ff-412d-8b16-16c16d29a51e}" enabled="1" method="Privileged" siteId="{9744600e-3e04-492e-baa1-25ec245c6f1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548</Words>
  <Application>Microsoft Office PowerPoint</Application>
  <PresentationFormat>Breitbild</PresentationFormat>
  <Paragraphs>108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Katharina Mohr (External)</dc:creator>
  <cp:lastModifiedBy>Katharina Mohr (External)</cp:lastModifiedBy>
  <cp:revision>48</cp:revision>
  <dcterms:created xsi:type="dcterms:W3CDTF">2026-04-02T10:23:14Z</dcterms:created>
  <dcterms:modified xsi:type="dcterms:W3CDTF">2026-04-13T14:01:27Z</dcterms:modified>
</cp:coreProperties>
</file>