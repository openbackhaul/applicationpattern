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F1FF"/>
    <a:srgbClr val="C7C7C7"/>
    <a:srgbClr val="5A4973"/>
    <a:srgbClr val="FFFF99"/>
    <a:srgbClr val="CBC2D8"/>
    <a:srgbClr val="E1DCE8"/>
    <a:srgbClr val="AB9CC0"/>
    <a:srgbClr val="9F9F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816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690D1B-CB2A-BAFC-14CA-E50155FF08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CF475FB-376D-CD94-AB01-CAA19CBB7D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AFAC4E-129D-40E5-0FBB-D3D5FD027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2FEF-AD2B-419F-836B-7AC310F69A62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BCA4A3-2CC5-2FD8-45F9-80DCF99A7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61A31F-994D-7683-6329-CB76C2572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3771-76F4-4D5C-ADFA-11E4BD46AE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2055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BE775-EF2D-177C-2A2D-ADB3344C3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273340-4D81-8EC5-02C2-3066C994A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4F2F9B-D73F-EE37-A6C1-3B56199A6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2FEF-AD2B-419F-836B-7AC310F69A62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9F8313-6E32-A0F4-413A-330D939F2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0E5538-7C81-7CE6-50A2-28CC80351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3771-76F4-4D5C-ADFA-11E4BD46AE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6269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1E4524-05E4-9F21-B12D-40659391B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74F71F7-202C-F502-6E69-AF1BA21EB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C66913-0CCF-F587-7BC3-5F9BB0A42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2FEF-AD2B-419F-836B-7AC310F69A62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6B757E-2540-2F0F-3639-8CE9EEC2F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D67A91-5181-EABF-D3E3-3D52E66E0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3771-76F4-4D5C-ADFA-11E4BD46AE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9180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EDD8BE-496B-3820-9A8B-B2F9163C2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5DD6A0-D051-1129-194F-EE240AAB9C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72635A7-0C1D-7559-ABA8-D4E67B0E2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23A5D2A-149F-CEC5-4E3D-9131BEF2E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2FEF-AD2B-419F-836B-7AC310F69A62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5E02F0-9D2E-8B7A-3671-3F168F84F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1EC8FA8-9096-0FC8-D516-B095B98BE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3771-76F4-4D5C-ADFA-11E4BD46AE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2388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84FBB9-C692-04CE-94B3-4DFB463EB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5708780-5680-913A-A574-87D20C7CF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0DB698A-2FD0-7C61-9D30-B66AD0EDD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B84CEA4-0B85-D788-3883-BF7A6C9473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2C3ACCC-37CB-AF1F-1575-FDC7243D65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3687718-DBB1-CDF3-B184-9FF68B4C3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2FEF-AD2B-419F-836B-7AC310F69A62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AADA5D8-E2FB-4E1E-0B5B-BFB790A13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B4C86EC-2352-BEE7-68AB-0E534D806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3771-76F4-4D5C-ADFA-11E4BD46AE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3094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5CFDAF-5D73-755A-75B0-376EAA6EA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FE66EC2-65DC-3419-47F7-C00C04605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2FEF-AD2B-419F-836B-7AC310F69A62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1B75BB3-8A3D-3273-77E4-A8BC517F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075B2DF-9824-9A30-4C9A-ECEDF6F91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3771-76F4-4D5C-ADFA-11E4BD46AE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0183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684321A-2AD9-531D-8890-91969EBCE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2FEF-AD2B-419F-836B-7AC310F69A62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CCCFE1E-0198-C2AC-1467-40D8EBF91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1F7BBF-F619-5BD8-CE62-10B38252B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3771-76F4-4D5C-ADFA-11E4BD46AE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8717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23C5AE-58D8-9E14-4FCC-D2D0B9D71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63597F-3BFC-1026-D514-E7F513273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F9B9E33-E0B6-D738-FB98-5D7A28DEE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8A0A86E-4612-4DB9-A276-91C5B7BCD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2FEF-AD2B-419F-836B-7AC310F69A62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79415FF-E934-31B5-0D2B-5D515237A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D164AB2-5928-C5E5-0526-4CC2DBC81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3771-76F4-4D5C-ADFA-11E4BD46AE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1203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1982B6-5FE2-3F7B-08C9-5D601C4F7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9B0E84F-5D9C-E96B-1586-E3D8121CB7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44C8578-578E-9C14-EC45-AFEE8D08C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94D3843-A498-F408-12AF-FE6DFCECB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2FEF-AD2B-419F-836B-7AC310F69A62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493D897-F94A-68D3-E7D6-D4ED5418D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E40A3BB-00B9-6970-1AA9-F0DEF1204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3771-76F4-4D5C-ADFA-11E4BD46AE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0727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BD1ECC-F6CA-5EAF-0012-A9E2770E1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02E0CF5-EB95-D800-97A3-AB9D65749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B0D5B2-9E54-CEB0-C5FB-0FD83AD0E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2FEF-AD2B-419F-836B-7AC310F69A62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7BBEDE-5752-4D42-506F-F4843D98E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C2E41A-F59D-A3FE-8E23-7C005E4DF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3771-76F4-4D5C-ADFA-11E4BD46AE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5280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CBFD35A-D40C-7B4F-3D5B-646A924B21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9F33173-90F8-DCE9-A4BA-1B73867BDB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36E6B9-85B5-BA40-1122-BD496C41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2FEF-AD2B-419F-836B-7AC310F69A62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5AD15F-1B51-9178-6092-FCFA71D7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A21F59-AF07-F2FE-D15B-A5B154207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3771-76F4-4D5C-ADFA-11E4BD46AE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9417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04C02B0-1DC5-6CE2-F40E-F8D45BEE4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8CDD4E-442A-E512-4495-5027B99AB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43675B-B579-F75B-9AB4-6F48225C47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552FEF-AD2B-419F-836B-7AC310F69A62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F117E0-A7F7-3F84-6A37-2E548DB30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E6CCB3-9AF6-4BD4-8300-9C49A809AC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D93771-76F4-4D5C-ADFA-11E4BD46AE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6190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hteck: abgerundete Ecken 183">
            <a:extLst>
              <a:ext uri="{FF2B5EF4-FFF2-40B4-BE49-F238E27FC236}">
                <a16:creationId xmlns:a16="http://schemas.microsoft.com/office/drawing/2014/main" id="{E0A07EB2-EF2D-4A39-45A6-0BC1CB29CCED}"/>
              </a:ext>
            </a:extLst>
          </p:cNvPr>
          <p:cNvSpPr/>
          <p:nvPr/>
        </p:nvSpPr>
        <p:spPr>
          <a:xfrm>
            <a:off x="548640" y="2733075"/>
            <a:ext cx="3871228" cy="3494019"/>
          </a:xfrm>
          <a:prstGeom prst="roundRect">
            <a:avLst>
              <a:gd name="adj" fmla="val 4357"/>
            </a:avLst>
          </a:prstGeom>
          <a:pattFill prst="wdUpDiag">
            <a:fgClr>
              <a:srgbClr val="D9F1FF"/>
            </a:fgClr>
            <a:bgClr>
              <a:schemeClr val="bg1">
                <a:lumMod val="95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3" name="Rechteck: abgerundete Ecken 182">
            <a:extLst>
              <a:ext uri="{FF2B5EF4-FFF2-40B4-BE49-F238E27FC236}">
                <a16:creationId xmlns:a16="http://schemas.microsoft.com/office/drawing/2014/main" id="{376535D4-8BDF-E287-AC65-9EBBA8DF98B0}"/>
              </a:ext>
            </a:extLst>
          </p:cNvPr>
          <p:cNvSpPr/>
          <p:nvPr/>
        </p:nvSpPr>
        <p:spPr>
          <a:xfrm>
            <a:off x="4543041" y="2515540"/>
            <a:ext cx="4334259" cy="3729656"/>
          </a:xfrm>
          <a:prstGeom prst="roundRect">
            <a:avLst>
              <a:gd name="adj" fmla="val 4357"/>
            </a:avLst>
          </a:prstGeom>
          <a:solidFill>
            <a:srgbClr val="D9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1" name="Rechteck: abgerundete Ecken 180">
            <a:extLst>
              <a:ext uri="{FF2B5EF4-FFF2-40B4-BE49-F238E27FC236}">
                <a16:creationId xmlns:a16="http://schemas.microsoft.com/office/drawing/2014/main" id="{00AFF3A1-01D1-B030-C348-C9AEDB85F77A}"/>
              </a:ext>
            </a:extLst>
          </p:cNvPr>
          <p:cNvSpPr/>
          <p:nvPr/>
        </p:nvSpPr>
        <p:spPr>
          <a:xfrm>
            <a:off x="228600" y="114300"/>
            <a:ext cx="8648700" cy="2599866"/>
          </a:xfrm>
          <a:prstGeom prst="roundRect">
            <a:avLst>
              <a:gd name="adj" fmla="val 4357"/>
            </a:avLst>
          </a:prstGeom>
          <a:solidFill>
            <a:srgbClr val="D9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78" name="Gerade Verbindung mit Pfeil 177">
            <a:extLst>
              <a:ext uri="{FF2B5EF4-FFF2-40B4-BE49-F238E27FC236}">
                <a16:creationId xmlns:a16="http://schemas.microsoft.com/office/drawing/2014/main" id="{C41D4C27-1CAA-49DA-7E4D-B39B032A9209}"/>
              </a:ext>
            </a:extLst>
          </p:cNvPr>
          <p:cNvCxnSpPr/>
          <p:nvPr/>
        </p:nvCxnSpPr>
        <p:spPr>
          <a:xfrm flipH="1">
            <a:off x="3566882" y="5560640"/>
            <a:ext cx="633401" cy="0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Bogen 173">
            <a:extLst>
              <a:ext uri="{FF2B5EF4-FFF2-40B4-BE49-F238E27FC236}">
                <a16:creationId xmlns:a16="http://schemas.microsoft.com/office/drawing/2014/main" id="{1B13C28B-0B18-8043-121C-2241A9A6CF20}"/>
              </a:ext>
            </a:extLst>
          </p:cNvPr>
          <p:cNvSpPr/>
          <p:nvPr/>
        </p:nvSpPr>
        <p:spPr>
          <a:xfrm>
            <a:off x="6191468" y="1548355"/>
            <a:ext cx="970707" cy="386922"/>
          </a:xfrm>
          <a:prstGeom prst="arc">
            <a:avLst>
              <a:gd name="adj1" fmla="val 15524639"/>
              <a:gd name="adj2" fmla="val 5941803"/>
            </a:avLst>
          </a:prstGeom>
          <a:ln w="6350">
            <a:solidFill>
              <a:srgbClr val="5A4973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7" name="Rechteck: abgerundete Ecken 176">
            <a:extLst>
              <a:ext uri="{FF2B5EF4-FFF2-40B4-BE49-F238E27FC236}">
                <a16:creationId xmlns:a16="http://schemas.microsoft.com/office/drawing/2014/main" id="{44CBE0E9-B1E9-905A-AD14-67BD391EB148}"/>
              </a:ext>
            </a:extLst>
          </p:cNvPr>
          <p:cNvSpPr/>
          <p:nvPr/>
        </p:nvSpPr>
        <p:spPr>
          <a:xfrm>
            <a:off x="6779963" y="1841939"/>
            <a:ext cx="133489" cy="146837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176" name="Rechteck: abgerundete Ecken 175">
            <a:extLst>
              <a:ext uri="{FF2B5EF4-FFF2-40B4-BE49-F238E27FC236}">
                <a16:creationId xmlns:a16="http://schemas.microsoft.com/office/drawing/2014/main" id="{0BBB6EFB-F015-1F56-FE29-F0E42555516E}"/>
              </a:ext>
            </a:extLst>
          </p:cNvPr>
          <p:cNvSpPr/>
          <p:nvPr/>
        </p:nvSpPr>
        <p:spPr>
          <a:xfrm>
            <a:off x="6838971" y="1804480"/>
            <a:ext cx="133489" cy="146837"/>
          </a:xfrm>
          <a:prstGeom prst="roundRect">
            <a:avLst/>
          </a:prstGeom>
          <a:solidFill>
            <a:srgbClr val="FFFF99"/>
          </a:solidFill>
          <a:ln w="63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173" name="Rechteck: abgerundete Ecken 172">
            <a:extLst>
              <a:ext uri="{FF2B5EF4-FFF2-40B4-BE49-F238E27FC236}">
                <a16:creationId xmlns:a16="http://schemas.microsoft.com/office/drawing/2014/main" id="{EC765652-0E08-F7A2-24BE-BF759F95D7AB}"/>
              </a:ext>
            </a:extLst>
          </p:cNvPr>
          <p:cNvSpPr/>
          <p:nvPr/>
        </p:nvSpPr>
        <p:spPr>
          <a:xfrm>
            <a:off x="6744205" y="1563062"/>
            <a:ext cx="133489" cy="146837"/>
          </a:xfrm>
          <a:prstGeom prst="roundRect">
            <a:avLst/>
          </a:prstGeom>
          <a:ln w="63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cxnSp>
        <p:nvCxnSpPr>
          <p:cNvPr id="163" name="Gerade Verbindung mit Pfeil 162">
            <a:extLst>
              <a:ext uri="{FF2B5EF4-FFF2-40B4-BE49-F238E27FC236}">
                <a16:creationId xmlns:a16="http://schemas.microsoft.com/office/drawing/2014/main" id="{D5E46622-4809-791C-E80B-8C684D3E51C4}"/>
              </a:ext>
            </a:extLst>
          </p:cNvPr>
          <p:cNvCxnSpPr/>
          <p:nvPr/>
        </p:nvCxnSpPr>
        <p:spPr>
          <a:xfrm flipH="1">
            <a:off x="3678898" y="2259280"/>
            <a:ext cx="633401" cy="0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hteck: abgerundete Ecken 124">
            <a:extLst>
              <a:ext uri="{FF2B5EF4-FFF2-40B4-BE49-F238E27FC236}">
                <a16:creationId xmlns:a16="http://schemas.microsoft.com/office/drawing/2014/main" id="{0E63E519-071C-9AF6-8555-C45D094ABDB9}"/>
              </a:ext>
            </a:extLst>
          </p:cNvPr>
          <p:cNvSpPr/>
          <p:nvPr/>
        </p:nvSpPr>
        <p:spPr>
          <a:xfrm>
            <a:off x="4729040" y="304800"/>
            <a:ext cx="3965380" cy="5638798"/>
          </a:xfrm>
          <a:prstGeom prst="roundRect">
            <a:avLst>
              <a:gd name="adj" fmla="val 4655"/>
            </a:avLst>
          </a:prstGeom>
          <a:noFill/>
          <a:ln w="127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61A70B2A-5031-0F16-083D-F2A83212B14B}"/>
              </a:ext>
            </a:extLst>
          </p:cNvPr>
          <p:cNvSpPr/>
          <p:nvPr/>
        </p:nvSpPr>
        <p:spPr>
          <a:xfrm>
            <a:off x="4894595" y="453866"/>
            <a:ext cx="1602542" cy="537167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3" name="Bogen 122">
            <a:extLst>
              <a:ext uri="{FF2B5EF4-FFF2-40B4-BE49-F238E27FC236}">
                <a16:creationId xmlns:a16="http://schemas.microsoft.com/office/drawing/2014/main" id="{9E99F3EA-B325-C131-0C3D-802CE5B72A30}"/>
              </a:ext>
            </a:extLst>
          </p:cNvPr>
          <p:cNvSpPr/>
          <p:nvPr/>
        </p:nvSpPr>
        <p:spPr>
          <a:xfrm>
            <a:off x="5652893" y="4853443"/>
            <a:ext cx="1619870" cy="322296"/>
          </a:xfrm>
          <a:prstGeom prst="arc">
            <a:avLst>
              <a:gd name="adj1" fmla="val 15524639"/>
              <a:gd name="adj2" fmla="val 5916562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1C137167-E567-A581-4E3F-0238F36C8BB4}"/>
              </a:ext>
            </a:extLst>
          </p:cNvPr>
          <p:cNvSpPr/>
          <p:nvPr/>
        </p:nvSpPr>
        <p:spPr>
          <a:xfrm>
            <a:off x="7078699" y="442341"/>
            <a:ext cx="1475019" cy="4591778"/>
          </a:xfrm>
          <a:prstGeom prst="roundRect">
            <a:avLst/>
          </a:prstGeom>
          <a:gradFill>
            <a:gsLst>
              <a:gs pos="0">
                <a:srgbClr val="E1DCE8"/>
              </a:gs>
              <a:gs pos="50000">
                <a:srgbClr val="CBC2D8"/>
              </a:gs>
              <a:gs pos="100000">
                <a:srgbClr val="AB9CC0"/>
              </a:gs>
            </a:gsLst>
          </a:gradFill>
          <a:ln>
            <a:solidFill>
              <a:srgbClr val="5A4973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135CB93E-6433-741A-8269-B0AD0DA8CAD2}"/>
              </a:ext>
            </a:extLst>
          </p:cNvPr>
          <p:cNvCxnSpPr>
            <a:cxnSpLocks/>
          </p:cNvCxnSpPr>
          <p:nvPr/>
        </p:nvCxnSpPr>
        <p:spPr>
          <a:xfrm flipV="1">
            <a:off x="3103619" y="1389396"/>
            <a:ext cx="189918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llipse 29">
            <a:extLst>
              <a:ext uri="{FF2B5EF4-FFF2-40B4-BE49-F238E27FC236}">
                <a16:creationId xmlns:a16="http://schemas.microsoft.com/office/drawing/2014/main" id="{54549B67-1D04-50DB-FF02-EF2C5C3C2071}"/>
              </a:ext>
            </a:extLst>
          </p:cNvPr>
          <p:cNvSpPr/>
          <p:nvPr/>
        </p:nvSpPr>
        <p:spPr>
          <a:xfrm>
            <a:off x="3644586" y="1182489"/>
            <a:ext cx="709042" cy="413815"/>
          </a:xfrm>
          <a:prstGeom prst="ellipse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B1E95950-3053-BCA5-7BA3-53DEA0232A82}"/>
              </a:ext>
            </a:extLst>
          </p:cNvPr>
          <p:cNvSpPr/>
          <p:nvPr/>
        </p:nvSpPr>
        <p:spPr>
          <a:xfrm>
            <a:off x="620724" y="1196952"/>
            <a:ext cx="709042" cy="413815"/>
          </a:xfrm>
          <a:prstGeom prst="ellipse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5A7F845-229D-F960-5991-F13AB3DC6B1B}"/>
              </a:ext>
            </a:extLst>
          </p:cNvPr>
          <p:cNvSpPr/>
          <p:nvPr/>
        </p:nvSpPr>
        <p:spPr>
          <a:xfrm>
            <a:off x="2055730" y="1201402"/>
            <a:ext cx="1047889" cy="41381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b="1">
                <a:solidFill>
                  <a:schemeClr val="dk1"/>
                </a:solidFill>
              </a:rPr>
              <a:t>NP</a:t>
            </a:r>
          </a:p>
          <a:p>
            <a:pPr algn="ctr"/>
            <a:r>
              <a:rPr lang="de-DE" sz="900">
                <a:solidFill>
                  <a:schemeClr val="dk1"/>
                </a:solidFill>
              </a:rPr>
              <a:t>(Producer)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735B6DD3-D9B3-A82C-6F0A-52D5E2A9F365}"/>
              </a:ext>
            </a:extLst>
          </p:cNvPr>
          <p:cNvCxnSpPr>
            <a:cxnSpLocks/>
            <a:stCxn id="28" idx="6"/>
            <a:endCxn id="4" idx="1"/>
          </p:cNvCxnSpPr>
          <p:nvPr/>
        </p:nvCxnSpPr>
        <p:spPr>
          <a:xfrm>
            <a:off x="1329766" y="1403860"/>
            <a:ext cx="725964" cy="4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6AB51B83-E598-7D3E-E49A-E0FDC1B2C297}"/>
              </a:ext>
            </a:extLst>
          </p:cNvPr>
          <p:cNvSpPr/>
          <p:nvPr/>
        </p:nvSpPr>
        <p:spPr>
          <a:xfrm>
            <a:off x="724819" y="1170254"/>
            <a:ext cx="133489" cy="146837"/>
          </a:xfrm>
          <a:prstGeom prst="roundRect">
            <a:avLst/>
          </a:prstGeom>
          <a:pattFill prst="wdUpDiag">
            <a:fgClr>
              <a:schemeClr val="accent2"/>
            </a:fgClr>
            <a:bgClr>
              <a:schemeClr val="tx1"/>
            </a:bgClr>
          </a:pattFill>
          <a:ln w="63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D95928B2-1461-778A-FFF3-7C43598EF591}"/>
              </a:ext>
            </a:extLst>
          </p:cNvPr>
          <p:cNvSpPr/>
          <p:nvPr/>
        </p:nvSpPr>
        <p:spPr>
          <a:xfrm>
            <a:off x="927664" y="1258132"/>
            <a:ext cx="133489" cy="146837"/>
          </a:xfrm>
          <a:prstGeom prst="roundRect">
            <a:avLst/>
          </a:prstGeom>
          <a:pattFill prst="wdUpDiag">
            <a:fgClr>
              <a:schemeClr val="accent2"/>
            </a:fgClr>
            <a:bgClr>
              <a:schemeClr val="tx1"/>
            </a:bgClr>
          </a:pattFill>
          <a:ln w="63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42B61567-A745-0CE4-731F-ECE0991124C2}"/>
              </a:ext>
            </a:extLst>
          </p:cNvPr>
          <p:cNvSpPr/>
          <p:nvPr/>
        </p:nvSpPr>
        <p:spPr>
          <a:xfrm>
            <a:off x="710270" y="1456285"/>
            <a:ext cx="133489" cy="146837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63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66B523AF-D6CB-B50B-990F-EA0AEE471C28}"/>
              </a:ext>
            </a:extLst>
          </p:cNvPr>
          <p:cNvSpPr/>
          <p:nvPr/>
        </p:nvSpPr>
        <p:spPr>
          <a:xfrm>
            <a:off x="960008" y="1529703"/>
            <a:ext cx="133489" cy="146837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63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2C1C3DA-97C6-98D4-28D9-555B4335B52A}"/>
              </a:ext>
            </a:extLst>
          </p:cNvPr>
          <p:cNvSpPr txBox="1"/>
          <p:nvPr/>
        </p:nvSpPr>
        <p:spPr>
          <a:xfrm>
            <a:off x="418939" y="764483"/>
            <a:ext cx="91082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050"/>
              <a:t>device </a:t>
            </a:r>
          </a:p>
          <a:p>
            <a:pPr algn="ctr"/>
            <a:r>
              <a:rPr lang="de-DE" sz="1050"/>
              <a:t>notifications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6C08E4E1-1ED1-5E5E-7734-2DC2DAAF2EF9}"/>
              </a:ext>
            </a:extLst>
          </p:cNvPr>
          <p:cNvSpPr/>
          <p:nvPr/>
        </p:nvSpPr>
        <p:spPr>
          <a:xfrm>
            <a:off x="3779963" y="1163580"/>
            <a:ext cx="133489" cy="146837"/>
          </a:xfrm>
          <a:prstGeom prst="roundRect">
            <a:avLst/>
          </a:prstGeom>
          <a:ln w="63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6530564B-1837-1AA3-F5F0-78269752FB7B}"/>
              </a:ext>
            </a:extLst>
          </p:cNvPr>
          <p:cNvSpPr/>
          <p:nvPr/>
        </p:nvSpPr>
        <p:spPr>
          <a:xfrm>
            <a:off x="4050446" y="1274820"/>
            <a:ext cx="133489" cy="146837"/>
          </a:xfrm>
          <a:prstGeom prst="roundRect">
            <a:avLst/>
          </a:prstGeom>
          <a:ln w="63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23C349D2-46B4-5E4F-028C-1B54C7112425}"/>
              </a:ext>
            </a:extLst>
          </p:cNvPr>
          <p:cNvSpPr/>
          <p:nvPr/>
        </p:nvSpPr>
        <p:spPr>
          <a:xfrm>
            <a:off x="3861165" y="1392178"/>
            <a:ext cx="133489" cy="146837"/>
          </a:xfrm>
          <a:prstGeom prst="roundRect">
            <a:avLst/>
          </a:prstGeom>
          <a:ln w="63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213D096F-46AE-1CB0-8209-D0B83AFC02B1}"/>
              </a:ext>
            </a:extLst>
          </p:cNvPr>
          <p:cNvSpPr txBox="1"/>
          <p:nvPr/>
        </p:nvSpPr>
        <p:spPr>
          <a:xfrm>
            <a:off x="485684" y="1809061"/>
            <a:ext cx="91082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050"/>
              <a:t>controller </a:t>
            </a:r>
          </a:p>
          <a:p>
            <a:pPr algn="ctr"/>
            <a:r>
              <a:rPr lang="de-DE" sz="1050"/>
              <a:t>notifications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1D129B47-021D-BB9D-1690-766199DC7C27}"/>
              </a:ext>
            </a:extLst>
          </p:cNvPr>
          <p:cNvSpPr txBox="1"/>
          <p:nvPr/>
        </p:nvSpPr>
        <p:spPr>
          <a:xfrm>
            <a:off x="3446267" y="630906"/>
            <a:ext cx="10967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000"/>
              <a:t>device </a:t>
            </a:r>
          </a:p>
          <a:p>
            <a:pPr algn="ctr"/>
            <a:r>
              <a:rPr lang="de-DE" sz="1000"/>
              <a:t>notifications</a:t>
            </a:r>
          </a:p>
          <a:p>
            <a:pPr algn="ctr"/>
            <a:r>
              <a:rPr lang="de-DE" sz="800"/>
              <a:t>(ONF TR-532 format)</a:t>
            </a: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F3262338-AD20-9893-1591-FE656423B644}"/>
              </a:ext>
            </a:extLst>
          </p:cNvPr>
          <p:cNvSpPr/>
          <p:nvPr/>
        </p:nvSpPr>
        <p:spPr>
          <a:xfrm>
            <a:off x="1112492" y="1184713"/>
            <a:ext cx="133489" cy="146837"/>
          </a:xfrm>
          <a:prstGeom prst="roundRect">
            <a:avLst/>
          </a:prstGeom>
          <a:pattFill prst="wdUpDiag">
            <a:fgClr>
              <a:schemeClr val="accent2"/>
            </a:fgClr>
            <a:bgClr>
              <a:schemeClr val="tx1"/>
            </a:bgClr>
          </a:pattFill>
          <a:ln w="63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8E5F976A-DE76-9EB0-BE50-BF56943F834C}"/>
              </a:ext>
            </a:extLst>
          </p:cNvPr>
          <p:cNvSpPr txBox="1"/>
          <p:nvPr/>
        </p:nvSpPr>
        <p:spPr>
          <a:xfrm>
            <a:off x="5002806" y="449012"/>
            <a:ext cx="1328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Kafka Message Bus</a:t>
            </a:r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DE0818FA-4E8B-C186-4E24-265D7D946FDA}"/>
              </a:ext>
            </a:extLst>
          </p:cNvPr>
          <p:cNvSpPr/>
          <p:nvPr/>
        </p:nvSpPr>
        <p:spPr>
          <a:xfrm>
            <a:off x="5002806" y="1243671"/>
            <a:ext cx="1371157" cy="367095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8" name="Rechteck: abgerundete Ecken 37">
            <a:extLst>
              <a:ext uri="{FF2B5EF4-FFF2-40B4-BE49-F238E27FC236}">
                <a16:creationId xmlns:a16="http://schemas.microsoft.com/office/drawing/2014/main" id="{BBFB2835-7FB8-FA14-9B44-E2335C0DE63E}"/>
              </a:ext>
            </a:extLst>
          </p:cNvPr>
          <p:cNvSpPr/>
          <p:nvPr/>
        </p:nvSpPr>
        <p:spPr>
          <a:xfrm>
            <a:off x="5415096" y="1443902"/>
            <a:ext cx="133489" cy="146837"/>
          </a:xfrm>
          <a:prstGeom prst="roundRect">
            <a:avLst/>
          </a:prstGeom>
          <a:ln w="63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39" name="Rechteck: abgerundete Ecken 38">
            <a:extLst>
              <a:ext uri="{FF2B5EF4-FFF2-40B4-BE49-F238E27FC236}">
                <a16:creationId xmlns:a16="http://schemas.microsoft.com/office/drawing/2014/main" id="{AE866E9B-1A8E-A480-F0CD-F13D7AD029A4}"/>
              </a:ext>
            </a:extLst>
          </p:cNvPr>
          <p:cNvSpPr/>
          <p:nvPr/>
        </p:nvSpPr>
        <p:spPr>
          <a:xfrm>
            <a:off x="5629121" y="1443901"/>
            <a:ext cx="133489" cy="146837"/>
          </a:xfrm>
          <a:prstGeom prst="roundRect">
            <a:avLst/>
          </a:prstGeom>
          <a:ln w="63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7BD60821-9A55-1AC8-944A-F7712C242D9F}"/>
              </a:ext>
            </a:extLst>
          </p:cNvPr>
          <p:cNvSpPr/>
          <p:nvPr/>
        </p:nvSpPr>
        <p:spPr>
          <a:xfrm>
            <a:off x="5839788" y="1442934"/>
            <a:ext cx="133489" cy="146837"/>
          </a:xfrm>
          <a:prstGeom prst="roundRect">
            <a:avLst/>
          </a:prstGeom>
          <a:ln w="63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0679B8BA-5034-702F-4963-92FC79E9BDF8}"/>
              </a:ext>
            </a:extLst>
          </p:cNvPr>
          <p:cNvSpPr/>
          <p:nvPr/>
        </p:nvSpPr>
        <p:spPr>
          <a:xfrm>
            <a:off x="1926175" y="4706602"/>
            <a:ext cx="1246972" cy="29368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900">
                <a:solidFill>
                  <a:schemeClr val="bg1"/>
                </a:solidFill>
              </a:rPr>
              <a:t>Possible future producers</a:t>
            </a:r>
          </a:p>
        </p:txBody>
      </p:sp>
      <p:sp>
        <p:nvSpPr>
          <p:cNvPr id="43" name="Rechteck: abgerundete Ecken 42">
            <a:extLst>
              <a:ext uri="{FF2B5EF4-FFF2-40B4-BE49-F238E27FC236}">
                <a16:creationId xmlns:a16="http://schemas.microsoft.com/office/drawing/2014/main" id="{787F4DCD-F26E-852A-372B-B0968982394A}"/>
              </a:ext>
            </a:extLst>
          </p:cNvPr>
          <p:cNvSpPr/>
          <p:nvPr/>
        </p:nvSpPr>
        <p:spPr>
          <a:xfrm>
            <a:off x="5051252" y="4706600"/>
            <a:ext cx="1371157" cy="701217"/>
          </a:xfrm>
          <a:prstGeom prst="roundRect">
            <a:avLst/>
          </a:prstGeom>
          <a:gradFill>
            <a:gsLst>
              <a:gs pos="44000">
                <a:srgbClr val="C7C7C7"/>
              </a:gs>
              <a:gs pos="75000">
                <a:srgbClr val="9F9F9F"/>
              </a:gs>
              <a:gs pos="100000">
                <a:schemeClr val="dk1">
                  <a:lumMod val="105000"/>
                  <a:satMod val="109000"/>
                  <a:tint val="81000"/>
                </a:schemeClr>
              </a:gs>
            </a:gsLst>
          </a:gradFill>
          <a:ln w="635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900"/>
              <a:t>possible future topics</a:t>
            </a:r>
          </a:p>
          <a:p>
            <a:pPr algn="ctr"/>
            <a:r>
              <a:rPr lang="de-DE" sz="900"/>
              <a:t>(input/output)</a:t>
            </a:r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ABBA1638-BB22-8141-BC8E-A69DE8921C01}"/>
              </a:ext>
            </a:extLst>
          </p:cNvPr>
          <p:cNvCxnSpPr>
            <a:cxnSpLocks/>
            <a:stCxn id="41" idx="3"/>
            <a:endCxn id="43" idx="1"/>
          </p:cNvCxnSpPr>
          <p:nvPr/>
        </p:nvCxnSpPr>
        <p:spPr>
          <a:xfrm>
            <a:off x="3173147" y="4853443"/>
            <a:ext cx="1878105" cy="203766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hteck: abgerundete Ecken 51">
            <a:extLst>
              <a:ext uri="{FF2B5EF4-FFF2-40B4-BE49-F238E27FC236}">
                <a16:creationId xmlns:a16="http://schemas.microsoft.com/office/drawing/2014/main" id="{160AEB23-369E-4900-F9E1-F3E5930F337A}"/>
              </a:ext>
            </a:extLst>
          </p:cNvPr>
          <p:cNvSpPr/>
          <p:nvPr/>
        </p:nvSpPr>
        <p:spPr>
          <a:xfrm>
            <a:off x="1926175" y="5219735"/>
            <a:ext cx="1032185" cy="38169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900">
                <a:solidFill>
                  <a:schemeClr val="bg1"/>
                </a:solidFill>
              </a:rPr>
              <a:t>Possible future consumers</a:t>
            </a:r>
          </a:p>
        </p:txBody>
      </p: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CD730646-136C-3D87-A9DD-628C6EAD88D6}"/>
              </a:ext>
            </a:extLst>
          </p:cNvPr>
          <p:cNvCxnSpPr>
            <a:cxnSpLocks/>
            <a:stCxn id="52" idx="3"/>
          </p:cNvCxnSpPr>
          <p:nvPr/>
        </p:nvCxnSpPr>
        <p:spPr>
          <a:xfrm flipV="1">
            <a:off x="2958360" y="5224967"/>
            <a:ext cx="2092892" cy="185616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hteck: abgerundete Ecken 58">
            <a:extLst>
              <a:ext uri="{FF2B5EF4-FFF2-40B4-BE49-F238E27FC236}">
                <a16:creationId xmlns:a16="http://schemas.microsoft.com/office/drawing/2014/main" id="{ED5FA0BF-9359-7838-69E4-FAC63E3BB61D}"/>
              </a:ext>
            </a:extLst>
          </p:cNvPr>
          <p:cNvSpPr/>
          <p:nvPr/>
        </p:nvSpPr>
        <p:spPr>
          <a:xfrm>
            <a:off x="3720227" y="4589176"/>
            <a:ext cx="133489" cy="146837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Rechteck: abgerundete Ecken 59">
            <a:extLst>
              <a:ext uri="{FF2B5EF4-FFF2-40B4-BE49-F238E27FC236}">
                <a16:creationId xmlns:a16="http://schemas.microsoft.com/office/drawing/2014/main" id="{E5AAFB49-7AC7-449E-EAD0-D8CEBC3838D6}"/>
              </a:ext>
            </a:extLst>
          </p:cNvPr>
          <p:cNvSpPr/>
          <p:nvPr/>
        </p:nvSpPr>
        <p:spPr>
          <a:xfrm>
            <a:off x="3913451" y="4589175"/>
            <a:ext cx="133489" cy="146837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Rechteck: abgerundete Ecken 60">
            <a:extLst>
              <a:ext uri="{FF2B5EF4-FFF2-40B4-BE49-F238E27FC236}">
                <a16:creationId xmlns:a16="http://schemas.microsoft.com/office/drawing/2014/main" id="{B3786BDD-8E16-6D69-F582-B05294ADD2C4}"/>
              </a:ext>
            </a:extLst>
          </p:cNvPr>
          <p:cNvSpPr/>
          <p:nvPr/>
        </p:nvSpPr>
        <p:spPr>
          <a:xfrm>
            <a:off x="3816839" y="4628098"/>
            <a:ext cx="133489" cy="146837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" name="Rechteck: abgerundete Ecken 61">
            <a:extLst>
              <a:ext uri="{FF2B5EF4-FFF2-40B4-BE49-F238E27FC236}">
                <a16:creationId xmlns:a16="http://schemas.microsoft.com/office/drawing/2014/main" id="{8544BD23-DB07-3E7F-ADEE-CEA26D3D8860}"/>
              </a:ext>
            </a:extLst>
          </p:cNvPr>
          <p:cNvSpPr/>
          <p:nvPr/>
        </p:nvSpPr>
        <p:spPr>
          <a:xfrm>
            <a:off x="3742305" y="5479866"/>
            <a:ext cx="133489" cy="146837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Rechteck: abgerundete Ecken 62">
            <a:extLst>
              <a:ext uri="{FF2B5EF4-FFF2-40B4-BE49-F238E27FC236}">
                <a16:creationId xmlns:a16="http://schemas.microsoft.com/office/drawing/2014/main" id="{E169A9FA-C1D9-2CE0-99E4-C53620CB5CAF}"/>
              </a:ext>
            </a:extLst>
          </p:cNvPr>
          <p:cNvSpPr/>
          <p:nvPr/>
        </p:nvSpPr>
        <p:spPr>
          <a:xfrm>
            <a:off x="3906190" y="5479865"/>
            <a:ext cx="133489" cy="146837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FBD99EC-09EF-9590-FF07-F0AE85505BFC}"/>
              </a:ext>
            </a:extLst>
          </p:cNvPr>
          <p:cNvSpPr txBox="1"/>
          <p:nvPr/>
        </p:nvSpPr>
        <p:spPr>
          <a:xfrm>
            <a:off x="7146671" y="437487"/>
            <a:ext cx="13289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Kafka Streams</a:t>
            </a:r>
          </a:p>
          <a:p>
            <a:pPr algn="ctr"/>
            <a:r>
              <a:rPr lang="de-DE" sz="900">
                <a:solidFill>
                  <a:schemeClr val="tx1">
                    <a:lumMod val="95000"/>
                    <a:lumOff val="5000"/>
                  </a:schemeClr>
                </a:solidFill>
              </a:rPr>
              <a:t>(Consumer, Producer)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2AD8CABF-ED90-2813-71D8-CB49BC1BA8AE}"/>
              </a:ext>
            </a:extLst>
          </p:cNvPr>
          <p:cNvSpPr/>
          <p:nvPr/>
        </p:nvSpPr>
        <p:spPr>
          <a:xfrm>
            <a:off x="5002806" y="1784304"/>
            <a:ext cx="1371157" cy="492146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E7AD3B60-BCF6-CA37-FAA2-B025F40A055F}"/>
              </a:ext>
            </a:extLst>
          </p:cNvPr>
          <p:cNvSpPr/>
          <p:nvPr/>
        </p:nvSpPr>
        <p:spPr>
          <a:xfrm>
            <a:off x="5521102" y="2085903"/>
            <a:ext cx="133489" cy="14683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63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AE58C80E-75F7-2BFB-A63C-043AA61A9720}"/>
              </a:ext>
            </a:extLst>
          </p:cNvPr>
          <p:cNvSpPr/>
          <p:nvPr/>
        </p:nvSpPr>
        <p:spPr>
          <a:xfrm>
            <a:off x="5735127" y="2085902"/>
            <a:ext cx="133489" cy="14683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63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2231FE2D-883C-8D57-BE09-44738B8114D1}"/>
              </a:ext>
            </a:extLst>
          </p:cNvPr>
          <p:cNvSpPr/>
          <p:nvPr/>
        </p:nvSpPr>
        <p:spPr>
          <a:xfrm>
            <a:off x="5002806" y="2555768"/>
            <a:ext cx="1371157" cy="569959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471375B6-4387-CEA0-ABB3-263D8E30122A}"/>
              </a:ext>
            </a:extLst>
          </p:cNvPr>
          <p:cNvSpPr/>
          <p:nvPr/>
        </p:nvSpPr>
        <p:spPr>
          <a:xfrm>
            <a:off x="5511096" y="2905015"/>
            <a:ext cx="133489" cy="146837"/>
          </a:xfrm>
          <a:prstGeom prst="roundRect">
            <a:avLst/>
          </a:prstGeom>
          <a:solidFill>
            <a:srgbClr val="FFFF99"/>
          </a:solidFill>
          <a:ln w="63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8B077B92-00E5-663E-9D3E-17787093B123}"/>
              </a:ext>
            </a:extLst>
          </p:cNvPr>
          <p:cNvSpPr/>
          <p:nvPr/>
        </p:nvSpPr>
        <p:spPr>
          <a:xfrm>
            <a:off x="5725121" y="2905014"/>
            <a:ext cx="133489" cy="146837"/>
          </a:xfrm>
          <a:prstGeom prst="roundRect">
            <a:avLst/>
          </a:prstGeom>
          <a:solidFill>
            <a:srgbClr val="FFFF99"/>
          </a:solidFill>
          <a:ln w="63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0DEAC75A-7B2E-F2E3-BE8E-033A7AB0BB7E}"/>
              </a:ext>
            </a:extLst>
          </p:cNvPr>
          <p:cNvSpPr/>
          <p:nvPr/>
        </p:nvSpPr>
        <p:spPr>
          <a:xfrm>
            <a:off x="5002806" y="3324594"/>
            <a:ext cx="1371157" cy="553179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4" name="Rechteck: abgerundete Ecken 43">
            <a:extLst>
              <a:ext uri="{FF2B5EF4-FFF2-40B4-BE49-F238E27FC236}">
                <a16:creationId xmlns:a16="http://schemas.microsoft.com/office/drawing/2014/main" id="{669C82BD-E39A-B229-160D-07D76EBD2DDB}"/>
              </a:ext>
            </a:extLst>
          </p:cNvPr>
          <p:cNvSpPr/>
          <p:nvPr/>
        </p:nvSpPr>
        <p:spPr>
          <a:xfrm>
            <a:off x="5511096" y="3651286"/>
            <a:ext cx="133489" cy="146837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5092186A-9210-9371-5F2C-63B252153043}"/>
              </a:ext>
            </a:extLst>
          </p:cNvPr>
          <p:cNvSpPr/>
          <p:nvPr/>
        </p:nvSpPr>
        <p:spPr>
          <a:xfrm>
            <a:off x="5725121" y="3651285"/>
            <a:ext cx="133489" cy="146837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8A907CB8-18C2-0F3D-B6B5-3CC73EDAAB00}"/>
              </a:ext>
            </a:extLst>
          </p:cNvPr>
          <p:cNvSpPr txBox="1"/>
          <p:nvPr/>
        </p:nvSpPr>
        <p:spPr>
          <a:xfrm>
            <a:off x="5068607" y="1201402"/>
            <a:ext cx="12230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000">
                <a:solidFill>
                  <a:schemeClr val="tx1">
                    <a:lumMod val="95000"/>
                    <a:lumOff val="5000"/>
                  </a:schemeClr>
                </a:solidFill>
              </a:rPr>
              <a:t>all_notifications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A6C16313-CE4D-45CA-11E9-34527722B1F1}"/>
              </a:ext>
            </a:extLst>
          </p:cNvPr>
          <p:cNvSpPr txBox="1"/>
          <p:nvPr/>
        </p:nvSpPr>
        <p:spPr>
          <a:xfrm>
            <a:off x="5076855" y="1745529"/>
            <a:ext cx="1223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000">
                <a:solidFill>
                  <a:schemeClr val="tx1">
                    <a:lumMod val="95000"/>
                    <a:lumOff val="5000"/>
                  </a:schemeClr>
                </a:solidFill>
              </a:rPr>
              <a:t>device_change_</a:t>
            </a:r>
          </a:p>
          <a:p>
            <a:pPr algn="ctr"/>
            <a:r>
              <a:rPr lang="de-DE" sz="1000">
                <a:solidFill>
                  <a:schemeClr val="tx1">
                    <a:lumMod val="95000"/>
                    <a:lumOff val="5000"/>
                  </a:schemeClr>
                </a:solidFill>
              </a:rPr>
              <a:t>notifications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7ECB7A20-05F5-4AC4-6457-35910F1049C5}"/>
              </a:ext>
            </a:extLst>
          </p:cNvPr>
          <p:cNvSpPr txBox="1"/>
          <p:nvPr/>
        </p:nvSpPr>
        <p:spPr>
          <a:xfrm>
            <a:off x="5095345" y="2521749"/>
            <a:ext cx="1223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000">
                <a:solidFill>
                  <a:schemeClr val="tx1">
                    <a:lumMod val="95000"/>
                    <a:lumOff val="5000"/>
                  </a:schemeClr>
                </a:solidFill>
              </a:rPr>
              <a:t>device_alarm_</a:t>
            </a:r>
          </a:p>
          <a:p>
            <a:pPr algn="ctr"/>
            <a:r>
              <a:rPr lang="de-DE" sz="1000">
                <a:solidFill>
                  <a:schemeClr val="tx1">
                    <a:lumMod val="95000"/>
                    <a:lumOff val="5000"/>
                  </a:schemeClr>
                </a:solidFill>
              </a:rPr>
              <a:t>notifications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82FF5BFA-40F0-A6C0-96C5-2D4BBBDB7BAD}"/>
              </a:ext>
            </a:extLst>
          </p:cNvPr>
          <p:cNvSpPr txBox="1"/>
          <p:nvPr/>
        </p:nvSpPr>
        <p:spPr>
          <a:xfrm>
            <a:off x="5067172" y="3269326"/>
            <a:ext cx="1223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000">
                <a:solidFill>
                  <a:schemeClr val="tx1">
                    <a:lumMod val="95000"/>
                    <a:lumOff val="5000"/>
                  </a:schemeClr>
                </a:solidFill>
              </a:rPr>
              <a:t>other_</a:t>
            </a:r>
          </a:p>
          <a:p>
            <a:pPr algn="ctr"/>
            <a:r>
              <a:rPr lang="de-DE" sz="1000">
                <a:solidFill>
                  <a:schemeClr val="tx1">
                    <a:lumMod val="95000"/>
                    <a:lumOff val="5000"/>
                  </a:schemeClr>
                </a:solidFill>
              </a:rPr>
              <a:t>notifications</a:t>
            </a:r>
          </a:p>
        </p:txBody>
      </p: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0C6E237E-7D65-4980-E933-EC0710ADB48D}"/>
              </a:ext>
            </a:extLst>
          </p:cNvPr>
          <p:cNvCxnSpPr>
            <a:cxnSpLocks/>
            <a:endCxn id="35" idx="3"/>
          </p:cNvCxnSpPr>
          <p:nvPr/>
        </p:nvCxnSpPr>
        <p:spPr>
          <a:xfrm flipH="1">
            <a:off x="6373963" y="1210214"/>
            <a:ext cx="804917" cy="217005"/>
          </a:xfrm>
          <a:prstGeom prst="straightConnector1">
            <a:avLst/>
          </a:prstGeom>
          <a:ln w="12700">
            <a:solidFill>
              <a:srgbClr val="5A4973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feld 57">
            <a:extLst>
              <a:ext uri="{FF2B5EF4-FFF2-40B4-BE49-F238E27FC236}">
                <a16:creationId xmlns:a16="http://schemas.microsoft.com/office/drawing/2014/main" id="{86417FBB-5DBD-1106-92A2-74AC7DB4FBA8}"/>
              </a:ext>
            </a:extLst>
          </p:cNvPr>
          <p:cNvSpPr txBox="1"/>
          <p:nvPr/>
        </p:nvSpPr>
        <p:spPr>
          <a:xfrm>
            <a:off x="6488798" y="1085048"/>
            <a:ext cx="59824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>
                <a:solidFill>
                  <a:srgbClr val="5A4973"/>
                </a:solidFill>
              </a:rPr>
              <a:t>subscription</a:t>
            </a:r>
          </a:p>
        </p:txBody>
      </p:sp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00E2908D-5438-A673-1662-21F7D7729094}"/>
              </a:ext>
            </a:extLst>
          </p:cNvPr>
          <p:cNvCxnSpPr>
            <a:cxnSpLocks/>
          </p:cNvCxnSpPr>
          <p:nvPr/>
        </p:nvCxnSpPr>
        <p:spPr>
          <a:xfrm flipH="1">
            <a:off x="6365916" y="1695764"/>
            <a:ext cx="963403" cy="1175652"/>
          </a:xfrm>
          <a:prstGeom prst="straightConnector1">
            <a:avLst/>
          </a:prstGeom>
          <a:ln>
            <a:solidFill>
              <a:srgbClr val="5A49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Bogen 101">
            <a:extLst>
              <a:ext uri="{FF2B5EF4-FFF2-40B4-BE49-F238E27FC236}">
                <a16:creationId xmlns:a16="http://schemas.microsoft.com/office/drawing/2014/main" id="{94222D80-BE2D-C53F-A43E-CC238F1E6C8E}"/>
              </a:ext>
            </a:extLst>
          </p:cNvPr>
          <p:cNvSpPr/>
          <p:nvPr/>
        </p:nvSpPr>
        <p:spPr>
          <a:xfrm>
            <a:off x="5621597" y="1450182"/>
            <a:ext cx="1619870" cy="635720"/>
          </a:xfrm>
          <a:prstGeom prst="arc">
            <a:avLst>
              <a:gd name="adj1" fmla="val 15524639"/>
              <a:gd name="adj2" fmla="val 5941803"/>
            </a:avLst>
          </a:prstGeom>
          <a:ln>
            <a:solidFill>
              <a:srgbClr val="5A49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7" name="Gerade Verbindung mit Pfeil 116">
            <a:extLst>
              <a:ext uri="{FF2B5EF4-FFF2-40B4-BE49-F238E27FC236}">
                <a16:creationId xmlns:a16="http://schemas.microsoft.com/office/drawing/2014/main" id="{65D46356-E5DA-0C3B-AA39-1A72BCCDB649}"/>
              </a:ext>
            </a:extLst>
          </p:cNvPr>
          <p:cNvCxnSpPr>
            <a:cxnSpLocks/>
            <a:endCxn id="42" idx="3"/>
          </p:cNvCxnSpPr>
          <p:nvPr/>
        </p:nvCxnSpPr>
        <p:spPr>
          <a:xfrm flipH="1">
            <a:off x="6373963" y="1573452"/>
            <a:ext cx="970829" cy="2027732"/>
          </a:xfrm>
          <a:prstGeom prst="straightConnector1">
            <a:avLst/>
          </a:prstGeom>
          <a:ln>
            <a:solidFill>
              <a:srgbClr val="5A49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65264CC0-A057-F01D-7784-180A1DF30E5B}"/>
              </a:ext>
            </a:extLst>
          </p:cNvPr>
          <p:cNvSpPr/>
          <p:nvPr/>
        </p:nvSpPr>
        <p:spPr>
          <a:xfrm>
            <a:off x="7151711" y="1007430"/>
            <a:ext cx="1328995" cy="825329"/>
          </a:xfrm>
          <a:prstGeom prst="roundRect">
            <a:avLst/>
          </a:prstGeom>
          <a:solidFill>
            <a:schemeClr val="bg1"/>
          </a:solidFill>
          <a:ln w="6350">
            <a:solidFill>
              <a:srgbClr val="5A4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B74B8B16-17C2-BC49-FCD6-5C73F17CAADA}"/>
              </a:ext>
            </a:extLst>
          </p:cNvPr>
          <p:cNvSpPr txBox="1"/>
          <p:nvPr/>
        </p:nvSpPr>
        <p:spPr>
          <a:xfrm>
            <a:off x="7224139" y="1048742"/>
            <a:ext cx="118494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/>
              <a:t>applies rules for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/>
              <a:t>categorization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/>
              <a:t>filtering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/>
              <a:t>aggregation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BBF8DF7D-A531-8DEF-0507-60DB0B32355C}"/>
              </a:ext>
            </a:extLst>
          </p:cNvPr>
          <p:cNvSpPr txBox="1"/>
          <p:nvPr/>
        </p:nvSpPr>
        <p:spPr>
          <a:xfrm>
            <a:off x="6466377" y="4643679"/>
            <a:ext cx="45878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>
                <a:solidFill>
                  <a:schemeClr val="bg1">
                    <a:lumMod val="50000"/>
                  </a:schemeClr>
                </a:solidFill>
              </a:rPr>
              <a:t>possibly</a:t>
            </a:r>
          </a:p>
        </p:txBody>
      </p:sp>
      <p:sp>
        <p:nvSpPr>
          <p:cNvPr id="130" name="Rechteck: abgerundete Ecken 129">
            <a:extLst>
              <a:ext uri="{FF2B5EF4-FFF2-40B4-BE49-F238E27FC236}">
                <a16:creationId xmlns:a16="http://schemas.microsoft.com/office/drawing/2014/main" id="{67109BBB-ABC8-1192-4D07-5985E93DAE14}"/>
              </a:ext>
            </a:extLst>
          </p:cNvPr>
          <p:cNvSpPr/>
          <p:nvPr/>
        </p:nvSpPr>
        <p:spPr>
          <a:xfrm>
            <a:off x="2054783" y="1954428"/>
            <a:ext cx="1047889" cy="41381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b="1"/>
              <a:t>MWDI</a:t>
            </a:r>
          </a:p>
          <a:p>
            <a:pPr algn="ctr"/>
            <a:r>
              <a:rPr lang="de-DE" sz="900"/>
              <a:t>(Consumer)</a:t>
            </a:r>
          </a:p>
        </p:txBody>
      </p:sp>
      <p:cxnSp>
        <p:nvCxnSpPr>
          <p:cNvPr id="133" name="Gerade Verbindung mit Pfeil 132">
            <a:extLst>
              <a:ext uri="{FF2B5EF4-FFF2-40B4-BE49-F238E27FC236}">
                <a16:creationId xmlns:a16="http://schemas.microsoft.com/office/drawing/2014/main" id="{98961F5C-0419-27B8-C3CB-6160E5E05046}"/>
              </a:ext>
            </a:extLst>
          </p:cNvPr>
          <p:cNvCxnSpPr>
            <a:stCxn id="130" idx="3"/>
          </p:cNvCxnSpPr>
          <p:nvPr/>
        </p:nvCxnSpPr>
        <p:spPr>
          <a:xfrm flipV="1">
            <a:off x="3102672" y="2057695"/>
            <a:ext cx="1900134" cy="103641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Gerade Verbindung mit Pfeil 133">
            <a:extLst>
              <a:ext uri="{FF2B5EF4-FFF2-40B4-BE49-F238E27FC236}">
                <a16:creationId xmlns:a16="http://schemas.microsoft.com/office/drawing/2014/main" id="{EAB2C9C6-FA48-1E8D-8F24-EF861E47AE4B}"/>
              </a:ext>
            </a:extLst>
          </p:cNvPr>
          <p:cNvCxnSpPr>
            <a:cxnSpLocks/>
            <a:stCxn id="130" idx="3"/>
            <a:endCxn id="27" idx="1"/>
          </p:cNvCxnSpPr>
          <p:nvPr/>
        </p:nvCxnSpPr>
        <p:spPr>
          <a:xfrm>
            <a:off x="3102672" y="2161336"/>
            <a:ext cx="1900134" cy="679412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feld 136">
            <a:extLst>
              <a:ext uri="{FF2B5EF4-FFF2-40B4-BE49-F238E27FC236}">
                <a16:creationId xmlns:a16="http://schemas.microsoft.com/office/drawing/2014/main" id="{00179D54-5FCB-E4EC-F260-328F933CB42F}"/>
              </a:ext>
            </a:extLst>
          </p:cNvPr>
          <p:cNvSpPr txBox="1"/>
          <p:nvPr/>
        </p:nvSpPr>
        <p:spPr>
          <a:xfrm>
            <a:off x="3915686" y="1875215"/>
            <a:ext cx="7393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>
                <a:solidFill>
                  <a:schemeClr val="accent6">
                    <a:lumMod val="75000"/>
                  </a:schemeClr>
                </a:solidFill>
              </a:rPr>
              <a:t>subscription</a:t>
            </a:r>
          </a:p>
        </p:txBody>
      </p:sp>
      <p:sp>
        <p:nvSpPr>
          <p:cNvPr id="138" name="Rechteck: abgerundete Ecken 137">
            <a:extLst>
              <a:ext uri="{FF2B5EF4-FFF2-40B4-BE49-F238E27FC236}">
                <a16:creationId xmlns:a16="http://schemas.microsoft.com/office/drawing/2014/main" id="{EDE0EBF2-08F5-55F8-A2D9-EF0E6E731C9F}"/>
              </a:ext>
            </a:extLst>
          </p:cNvPr>
          <p:cNvSpPr/>
          <p:nvPr/>
        </p:nvSpPr>
        <p:spPr>
          <a:xfrm>
            <a:off x="2034796" y="2890087"/>
            <a:ext cx="1047889" cy="84768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900">
                <a:solidFill>
                  <a:schemeClr val="bg1"/>
                </a:solidFill>
              </a:rPr>
              <a:t>Alarm app or SDN-external tools (e.g. Netcool) </a:t>
            </a:r>
          </a:p>
          <a:p>
            <a:pPr algn="ctr"/>
            <a:r>
              <a:rPr lang="de-DE" sz="900">
                <a:solidFill>
                  <a:schemeClr val="bg1"/>
                </a:solidFill>
              </a:rPr>
              <a:t>(Consumer)</a:t>
            </a:r>
          </a:p>
        </p:txBody>
      </p:sp>
      <p:cxnSp>
        <p:nvCxnSpPr>
          <p:cNvPr id="139" name="Gerade Verbindung mit Pfeil 138">
            <a:extLst>
              <a:ext uri="{FF2B5EF4-FFF2-40B4-BE49-F238E27FC236}">
                <a16:creationId xmlns:a16="http://schemas.microsoft.com/office/drawing/2014/main" id="{D95545CB-10E4-5768-982F-2B36E3C44976}"/>
              </a:ext>
            </a:extLst>
          </p:cNvPr>
          <p:cNvCxnSpPr>
            <a:cxnSpLocks/>
            <a:stCxn id="138" idx="3"/>
            <a:endCxn id="27" idx="1"/>
          </p:cNvCxnSpPr>
          <p:nvPr/>
        </p:nvCxnSpPr>
        <p:spPr>
          <a:xfrm flipV="1">
            <a:off x="3082685" y="2840748"/>
            <a:ext cx="1920121" cy="47318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feld 141">
            <a:extLst>
              <a:ext uri="{FF2B5EF4-FFF2-40B4-BE49-F238E27FC236}">
                <a16:creationId xmlns:a16="http://schemas.microsoft.com/office/drawing/2014/main" id="{EE61526D-6A3B-636A-A024-B283D5E18E72}"/>
              </a:ext>
            </a:extLst>
          </p:cNvPr>
          <p:cNvSpPr txBox="1"/>
          <p:nvPr/>
        </p:nvSpPr>
        <p:spPr>
          <a:xfrm>
            <a:off x="3145083" y="3269326"/>
            <a:ext cx="11384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>
                <a:solidFill>
                  <a:schemeClr val="tx1">
                    <a:lumMod val="65000"/>
                    <a:lumOff val="35000"/>
                  </a:schemeClr>
                </a:solidFill>
              </a:rPr>
              <a:t>possible subscription</a:t>
            </a:r>
          </a:p>
        </p:txBody>
      </p:sp>
      <p:sp>
        <p:nvSpPr>
          <p:cNvPr id="160" name="Rechteck: abgerundete Ecken 159">
            <a:extLst>
              <a:ext uri="{FF2B5EF4-FFF2-40B4-BE49-F238E27FC236}">
                <a16:creationId xmlns:a16="http://schemas.microsoft.com/office/drawing/2014/main" id="{F2470FF0-ECCD-B1ED-D11E-86BEB4E79A70}"/>
              </a:ext>
            </a:extLst>
          </p:cNvPr>
          <p:cNvSpPr/>
          <p:nvPr/>
        </p:nvSpPr>
        <p:spPr>
          <a:xfrm>
            <a:off x="3857721" y="2183342"/>
            <a:ext cx="133489" cy="14683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63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161" name="Rechteck: abgerundete Ecken 160">
            <a:extLst>
              <a:ext uri="{FF2B5EF4-FFF2-40B4-BE49-F238E27FC236}">
                <a16:creationId xmlns:a16="http://schemas.microsoft.com/office/drawing/2014/main" id="{903E5B2C-66E2-5A8E-B532-D4E1CD2140BB}"/>
              </a:ext>
            </a:extLst>
          </p:cNvPr>
          <p:cNvSpPr/>
          <p:nvPr/>
        </p:nvSpPr>
        <p:spPr>
          <a:xfrm>
            <a:off x="4071746" y="2183341"/>
            <a:ext cx="133489" cy="14683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63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cxnSp>
        <p:nvCxnSpPr>
          <p:cNvPr id="168" name="Gerade Verbindung mit Pfeil 167">
            <a:extLst>
              <a:ext uri="{FF2B5EF4-FFF2-40B4-BE49-F238E27FC236}">
                <a16:creationId xmlns:a16="http://schemas.microsoft.com/office/drawing/2014/main" id="{FB46A479-AE5E-56E1-A0B9-13C5519EB618}"/>
              </a:ext>
            </a:extLst>
          </p:cNvPr>
          <p:cNvCxnSpPr/>
          <p:nvPr/>
        </p:nvCxnSpPr>
        <p:spPr>
          <a:xfrm flipH="1">
            <a:off x="3678898" y="2823807"/>
            <a:ext cx="633401" cy="0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Rechteck: abgerundete Ecken 168">
            <a:extLst>
              <a:ext uri="{FF2B5EF4-FFF2-40B4-BE49-F238E27FC236}">
                <a16:creationId xmlns:a16="http://schemas.microsoft.com/office/drawing/2014/main" id="{0CEA197C-33D8-750D-CBC0-0EAFF3A45A1E}"/>
              </a:ext>
            </a:extLst>
          </p:cNvPr>
          <p:cNvSpPr/>
          <p:nvPr/>
        </p:nvSpPr>
        <p:spPr>
          <a:xfrm>
            <a:off x="3857721" y="2747869"/>
            <a:ext cx="133489" cy="146837"/>
          </a:xfrm>
          <a:prstGeom prst="roundRect">
            <a:avLst/>
          </a:prstGeom>
          <a:solidFill>
            <a:srgbClr val="FFFF99"/>
          </a:solidFill>
          <a:ln w="63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170" name="Rechteck: abgerundete Ecken 169">
            <a:extLst>
              <a:ext uri="{FF2B5EF4-FFF2-40B4-BE49-F238E27FC236}">
                <a16:creationId xmlns:a16="http://schemas.microsoft.com/office/drawing/2014/main" id="{3DF928F8-B0C9-2489-A0CC-FC3387DAD222}"/>
              </a:ext>
            </a:extLst>
          </p:cNvPr>
          <p:cNvSpPr/>
          <p:nvPr/>
        </p:nvSpPr>
        <p:spPr>
          <a:xfrm>
            <a:off x="4071746" y="2747868"/>
            <a:ext cx="133489" cy="146837"/>
          </a:xfrm>
          <a:prstGeom prst="roundRect">
            <a:avLst/>
          </a:prstGeom>
          <a:solidFill>
            <a:srgbClr val="FFFF99"/>
          </a:solidFill>
          <a:ln w="63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171" name="Rechteck: abgerundete Ecken 170">
            <a:extLst>
              <a:ext uri="{FF2B5EF4-FFF2-40B4-BE49-F238E27FC236}">
                <a16:creationId xmlns:a16="http://schemas.microsoft.com/office/drawing/2014/main" id="{A85D4A97-E17A-9920-CF0D-805E26CB9BA3}"/>
              </a:ext>
            </a:extLst>
          </p:cNvPr>
          <p:cNvSpPr/>
          <p:nvPr/>
        </p:nvSpPr>
        <p:spPr>
          <a:xfrm>
            <a:off x="6700279" y="1519090"/>
            <a:ext cx="133489" cy="146837"/>
          </a:xfrm>
          <a:prstGeom prst="roundRect">
            <a:avLst/>
          </a:prstGeom>
          <a:ln w="63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172" name="Rechteck: abgerundete Ecken 171">
            <a:extLst>
              <a:ext uri="{FF2B5EF4-FFF2-40B4-BE49-F238E27FC236}">
                <a16:creationId xmlns:a16="http://schemas.microsoft.com/office/drawing/2014/main" id="{910F54B2-EB86-EC1C-FCA8-6D0E3C54CDA3}"/>
              </a:ext>
            </a:extLst>
          </p:cNvPr>
          <p:cNvSpPr/>
          <p:nvPr/>
        </p:nvSpPr>
        <p:spPr>
          <a:xfrm>
            <a:off x="6654851" y="1489644"/>
            <a:ext cx="133489" cy="146837"/>
          </a:xfrm>
          <a:prstGeom prst="roundRect">
            <a:avLst/>
          </a:prstGeom>
          <a:ln w="63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175" name="Rechteck: abgerundete Ecken 174">
            <a:extLst>
              <a:ext uri="{FF2B5EF4-FFF2-40B4-BE49-F238E27FC236}">
                <a16:creationId xmlns:a16="http://schemas.microsoft.com/office/drawing/2014/main" id="{B68CB319-42C0-C6B1-5F94-FAC582FE4C59}"/>
              </a:ext>
            </a:extLst>
          </p:cNvPr>
          <p:cNvSpPr/>
          <p:nvPr/>
        </p:nvSpPr>
        <p:spPr>
          <a:xfrm>
            <a:off x="6887453" y="1776633"/>
            <a:ext cx="133489" cy="14683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63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182" name="Textfeld 181">
            <a:extLst>
              <a:ext uri="{FF2B5EF4-FFF2-40B4-BE49-F238E27FC236}">
                <a16:creationId xmlns:a16="http://schemas.microsoft.com/office/drawing/2014/main" id="{4EB00DBC-5EE4-866B-C168-5DE3214DF2BC}"/>
              </a:ext>
            </a:extLst>
          </p:cNvPr>
          <p:cNvSpPr txBox="1"/>
          <p:nvPr/>
        </p:nvSpPr>
        <p:spPr>
          <a:xfrm>
            <a:off x="228600" y="135403"/>
            <a:ext cx="1079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/>
              <a:t>SDN-domain</a:t>
            </a:r>
          </a:p>
        </p:txBody>
      </p:sp>
      <p:sp>
        <p:nvSpPr>
          <p:cNvPr id="185" name="Textfeld 184">
            <a:extLst>
              <a:ext uri="{FF2B5EF4-FFF2-40B4-BE49-F238E27FC236}">
                <a16:creationId xmlns:a16="http://schemas.microsoft.com/office/drawing/2014/main" id="{BE5CA194-D0AF-5A3E-18DA-05401AF43F90}"/>
              </a:ext>
            </a:extLst>
          </p:cNvPr>
          <p:cNvSpPr txBox="1"/>
          <p:nvPr/>
        </p:nvSpPr>
        <p:spPr>
          <a:xfrm>
            <a:off x="562966" y="5570077"/>
            <a:ext cx="11458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/>
              <a:t>SDN-domain</a:t>
            </a:r>
          </a:p>
          <a:p>
            <a:r>
              <a:rPr lang="de-DE" sz="1200" b="1"/>
              <a:t>and/or</a:t>
            </a:r>
          </a:p>
          <a:p>
            <a:r>
              <a:rPr lang="de-DE" sz="1200" b="1"/>
              <a:t>external tools</a:t>
            </a:r>
          </a:p>
        </p:txBody>
      </p:sp>
    </p:spTree>
    <p:extLst>
      <p:ext uri="{BB962C8B-B14F-4D97-AF65-F5344CB8AC3E}">
        <p14:creationId xmlns:p14="http://schemas.microsoft.com/office/powerpoint/2010/main" val="78295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</Words>
  <Application>Microsoft Office PowerPoint</Application>
  <PresentationFormat>Breitbild</PresentationFormat>
  <Paragraphs>39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>Telefónica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Katharina Mohr (External)</dc:creator>
  <cp:lastModifiedBy>Katharina Mohr (External)</cp:lastModifiedBy>
  <cp:revision>85</cp:revision>
  <dcterms:created xsi:type="dcterms:W3CDTF">2025-07-16T12:21:24Z</dcterms:created>
  <dcterms:modified xsi:type="dcterms:W3CDTF">2025-07-17T13:16:59Z</dcterms:modified>
</cp:coreProperties>
</file>